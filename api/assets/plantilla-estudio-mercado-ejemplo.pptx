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13" r:id="rId4"/>
    <p:sldMasterId id="2147483721" r:id="rId5"/>
  </p:sldMasterIdLst>
  <p:notesMasterIdLst>
    <p:notesMasterId r:id="rId38"/>
  </p:notesMasterIdLst>
  <p:sldIdLst>
    <p:sldId id="267" r:id="rId6"/>
    <p:sldId id="293" r:id="rId7"/>
    <p:sldId id="294" r:id="rId8"/>
    <p:sldId id="259" r:id="rId9"/>
    <p:sldId id="291" r:id="rId10"/>
    <p:sldId id="292" r:id="rId11"/>
    <p:sldId id="261" r:id="rId12"/>
    <p:sldId id="269" r:id="rId13"/>
    <p:sldId id="264" r:id="rId14"/>
    <p:sldId id="262" r:id="rId15"/>
    <p:sldId id="263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79" r:id="rId27"/>
    <p:sldId id="284" r:id="rId28"/>
    <p:sldId id="282" r:id="rId29"/>
    <p:sldId id="285" r:id="rId30"/>
    <p:sldId id="286" r:id="rId31"/>
    <p:sldId id="287" r:id="rId32"/>
    <p:sldId id="288" r:id="rId33"/>
    <p:sldId id="289" r:id="rId34"/>
    <p:sldId id="290" r:id="rId35"/>
    <p:sldId id="265" r:id="rId36"/>
    <p:sldId id="266" r:id="rId37"/>
  </p:sldIdLst>
  <p:sldSz cx="12155488" cy="6858000"/>
  <p:notesSz cx="12192000" cy="6858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5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3F1A00-059C-CE6C-391C-A56A8A56FC52}" name="Betsabe Acuña" initials="BA" userId="S::betsabeam@phiqus.com::a8274b07-4324-4652-b6ec-53769ec48997" providerId="AD"/>
  <p188:author id="{825065D3-1D2C-B4B4-F5E5-CF551D073417}" name="Yessica Solórzano" initials="YS" userId="S::yessicasa@phiqus.com::12f0ffe1-f459-4c6d-b420-f8ad8a2930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38F98E"/>
    <a:srgbClr val="F27806"/>
    <a:srgbClr val="F7AEF7"/>
    <a:srgbClr val="F178F2"/>
    <a:srgbClr val="FEE4CC"/>
    <a:srgbClr val="B5B508"/>
    <a:srgbClr val="D7F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18C135-A5D2-4D01-AB37-834A65B40B9A}" v="1" dt="2026-03-09T01:51:55.50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9" y="67"/>
      </p:cViewPr>
      <p:guideLst>
        <p:guide orient="horz" pos="2880"/>
        <p:guide pos="21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a Avilez" userId="0933586e-5a13-4fb7-a755-641e01a7e34a" providerId="ADAL" clId="{267E5269-7397-46CD-8FAB-F0AD43FBF696}"/>
    <pc:docChg chg="addSld modMainMaster">
      <pc:chgData name="Helena Avilez" userId="0933586e-5a13-4fb7-a755-641e01a7e34a" providerId="ADAL" clId="{267E5269-7397-46CD-8FAB-F0AD43FBF696}" dt="2026-03-09T01:52:30.018" v="12" actId="680"/>
      <pc:docMkLst>
        <pc:docMk/>
      </pc:docMkLst>
      <pc:sldChg chg="new">
        <pc:chgData name="Helena Avilez" userId="0933586e-5a13-4fb7-a755-641e01a7e34a" providerId="ADAL" clId="{267E5269-7397-46CD-8FAB-F0AD43FBF696}" dt="2026-03-09T01:52:30.018" v="12" actId="680"/>
        <pc:sldMkLst>
          <pc:docMk/>
          <pc:sldMk cId="2642371477" sldId="294"/>
        </pc:sldMkLst>
      </pc:sldChg>
      <pc:sldMasterChg chg="modSldLayout">
        <pc:chgData name="Helena Avilez" userId="0933586e-5a13-4fb7-a755-641e01a7e34a" providerId="ADAL" clId="{267E5269-7397-46CD-8FAB-F0AD43FBF696}" dt="2026-03-09T01:52:13.311" v="11" actId="255"/>
        <pc:sldMasterMkLst>
          <pc:docMk/>
          <pc:sldMasterMk cId="3575045552" sldId="2147483721"/>
        </pc:sldMasterMkLst>
        <pc:sldLayoutChg chg="modSp mod">
          <pc:chgData name="Helena Avilez" userId="0933586e-5a13-4fb7-a755-641e01a7e34a" providerId="ADAL" clId="{267E5269-7397-46CD-8FAB-F0AD43FBF696}" dt="2026-03-09T01:52:13.311" v="11" actId="255"/>
          <pc:sldLayoutMkLst>
            <pc:docMk/>
            <pc:sldMasterMk cId="3575045552" sldId="2147483721"/>
            <pc:sldLayoutMk cId="2936642518" sldId="2147483732"/>
          </pc:sldLayoutMkLst>
          <pc:spChg chg="mod">
            <ac:chgData name="Helena Avilez" userId="0933586e-5a13-4fb7-a755-641e01a7e34a" providerId="ADAL" clId="{267E5269-7397-46CD-8FAB-F0AD43FBF696}" dt="2026-03-09T01:52:13.311" v="11" actId="255"/>
            <ac:spMkLst>
              <pc:docMk/>
              <pc:sldMasterMk cId="3575045552" sldId="2147483721"/>
              <pc:sldLayoutMk cId="2936642518" sldId="2147483732"/>
              <ac:spMk id="6" creationId="{72BA120E-E9E6-D773-2891-C704571DBE57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5AC96-9D1B-A340-96D0-6B6229942696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44950" y="857250"/>
            <a:ext cx="4102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71665-6842-E24F-96CF-FB93CA9B41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77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276437-B119-2855-32C9-BF88BEBE2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5488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FCE9955-3706-1EB8-C853-8D6152517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39" y="565591"/>
            <a:ext cx="1856545" cy="5101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DE9ECC7-37C2-878B-A6AB-6A2A1428ACFF}"/>
              </a:ext>
            </a:extLst>
          </p:cNvPr>
          <p:cNvSpPr txBox="1"/>
          <p:nvPr/>
        </p:nvSpPr>
        <p:spPr>
          <a:xfrm>
            <a:off x="408820" y="5987018"/>
            <a:ext cx="210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MX" sz="1795" b="1" i="0">
                <a:solidFill>
                  <a:schemeClr val="bg1"/>
                </a:solidFill>
                <a:latin typeface="Ballinger Mono Bold" pitchFamily="2" charset="77"/>
              </a:rPr>
              <a:t>&lt;Data </a:t>
            </a:r>
            <a:r>
              <a:rPr lang="es-MX" sz="1795" b="1" i="0" err="1">
                <a:solidFill>
                  <a:schemeClr val="bg1"/>
                </a:solidFill>
                <a:latin typeface="Ballinger Mono Bold" pitchFamily="2" charset="77"/>
              </a:rPr>
              <a:t>Science</a:t>
            </a:r>
            <a:r>
              <a:rPr lang="es-MX" sz="1795" b="1" i="0">
                <a:solidFill>
                  <a:schemeClr val="bg1"/>
                </a:solidFill>
                <a:latin typeface="Ballinger Mono Bold" pitchFamily="2" charset="77"/>
              </a:rPr>
              <a:t>&gt;</a:t>
            </a:r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DB2E7ED7-A1AA-7E5E-BCA7-D76F2EFB35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820" y="2246097"/>
            <a:ext cx="6264037" cy="19957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bg1"/>
                </a:solidFill>
                <a:latin typeface="Ballinger Mono Light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75A09B1-F9F4-E98C-A488-B853E0773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68623" y="6042937"/>
            <a:ext cx="4440237" cy="257493"/>
          </a:xfrm>
          <a:prstGeom prst="rect">
            <a:avLst/>
          </a:prstGeom>
        </p:spPr>
        <p:txBody>
          <a:bodyPr/>
          <a:lstStyle>
            <a:lvl1pPr algn="r">
              <a:buNone/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CIUDAD </a:t>
            </a:r>
            <a:r>
              <a:rPr lang="en-US" sz="1100">
                <a:solidFill>
                  <a:schemeClr val="bg1"/>
                </a:solidFill>
              </a:rPr>
              <a:t>|</a:t>
            </a:r>
            <a:r>
              <a:rPr lang="en-US" sz="1100">
                <a:solidFill>
                  <a:schemeClr val="bg1"/>
                </a:solidFill>
                <a:latin typeface="Ballinger Mono Light"/>
                <a:sym typeface="Delivery" panose="020F0503020204020204" pitchFamily="34" charset="0"/>
              </a:rPr>
              <a:t> FECHA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707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465356-8AC4-3F1E-64C9-68883FC3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5488" cy="685800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6B881EB-461D-DADC-4CB5-E2770A5CB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28" y="2284062"/>
            <a:ext cx="3816466" cy="228987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50000"/>
              </a:lnSpc>
              <a:defRPr/>
            </a:lvl1pPr>
          </a:lstStyle>
          <a:p>
            <a:r>
              <a:rPr lang="es-MX"/>
              <a:t>Haz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302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675B96B-6DC9-00F6-0AA7-DF87117C1267}"/>
              </a:ext>
            </a:extLst>
          </p:cNvPr>
          <p:cNvSpPr txBox="1"/>
          <p:nvPr userDrawn="1"/>
        </p:nvSpPr>
        <p:spPr>
          <a:xfrm>
            <a:off x="966901" y="525984"/>
            <a:ext cx="76179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>
                <a:latin typeface="Ballinger Mono Bold"/>
              </a:rPr>
              <a:t>&lt;RESUMEN EJECUTIVO&gt;</a:t>
            </a:r>
            <a:endParaRPr lang="es-CO" sz="2600" b="1">
              <a:latin typeface="Ballinger Mono Bold"/>
            </a:endParaRP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38000DEA-30F7-98DC-B7F1-AB1435F42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20205" y="1299789"/>
            <a:ext cx="4643438" cy="4775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indent="0" algn="just">
              <a:buNone/>
            </a:pPr>
            <a:r>
              <a:rPr lang="es-MX" sz="1400" b="1" dirty="0"/>
              <a:t>Objetivo general: </a:t>
            </a:r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r>
              <a:rPr lang="es-MX" sz="1400" b="1" dirty="0"/>
              <a:t>Objetivos específicos: 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A39BF1C7-3180-70A6-9ADF-521F4F15691D}"/>
              </a:ext>
            </a:extLst>
          </p:cNvPr>
          <p:cNvCxnSpPr/>
          <p:nvPr userDrawn="1"/>
        </p:nvCxnSpPr>
        <p:spPr>
          <a:xfrm>
            <a:off x="6077744" y="1127760"/>
            <a:ext cx="0" cy="51574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texto 39">
            <a:extLst>
              <a:ext uri="{FF2B5EF4-FFF2-40B4-BE49-F238E27FC236}">
                <a16:creationId xmlns:a16="http://schemas.microsoft.com/office/drawing/2014/main" id="{8164430A-A659-D9EF-C667-D322062A1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846" y="1299789"/>
            <a:ext cx="4643438" cy="4775200"/>
          </a:xfrm>
          <a:prstGeom prst="rect">
            <a:avLst/>
          </a:prstGeom>
        </p:spPr>
        <p:txBody>
          <a:bodyPr/>
          <a:lstStyle>
            <a:lvl1pPr marL="227914" indent="-227914" algn="just">
              <a:defRPr b="0"/>
            </a:lvl1pPr>
          </a:lstStyle>
          <a:p>
            <a:pPr marL="0" indent="0" algn="just">
              <a:buNone/>
            </a:pPr>
            <a:r>
              <a:rPr lang="es-MX" sz="1400" b="1" dirty="0"/>
              <a:t>Proyecto: </a:t>
            </a:r>
          </a:p>
          <a:p>
            <a:pPr marL="0" indent="0" algn="just">
              <a:buNone/>
            </a:pPr>
            <a:r>
              <a:rPr lang="es-MX" sz="1400" b="1" dirty="0"/>
              <a:t>Qué tipo de proyecto se está desarrollando y en donde</a:t>
            </a:r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r>
              <a:rPr lang="es-MX" sz="1400" b="1" dirty="0"/>
              <a:t>Ubicación:</a:t>
            </a:r>
          </a:p>
          <a:p>
            <a:pPr marL="0" indent="0" algn="just">
              <a:buNone/>
            </a:pPr>
            <a:r>
              <a:rPr lang="es-MX" sz="1400" b="1" dirty="0"/>
              <a:t>Dirección:</a:t>
            </a:r>
          </a:p>
          <a:p>
            <a:pPr marL="0" indent="0" algn="just">
              <a:buNone/>
            </a:pPr>
            <a:r>
              <a:rPr lang="es-MX" sz="1400" b="1" dirty="0"/>
              <a:t>Coordenadas:</a:t>
            </a:r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r>
              <a:rPr lang="es-MX" sz="1400" b="1" dirty="0"/>
              <a:t>Alcance del estudio: </a:t>
            </a:r>
          </a:p>
          <a:p>
            <a:pPr marL="0" indent="0" algn="just">
              <a:buNone/>
            </a:pPr>
            <a:endParaRPr lang="es-MX" sz="1400" b="1" dirty="0"/>
          </a:p>
        </p:txBody>
      </p:sp>
    </p:spTree>
    <p:extLst>
      <p:ext uri="{BB962C8B-B14F-4D97-AF65-F5344CB8AC3E}">
        <p14:creationId xmlns:p14="http://schemas.microsoft.com/office/powerpoint/2010/main" val="265566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675B96B-6DC9-00F6-0AA7-DF87117C1267}"/>
              </a:ext>
            </a:extLst>
          </p:cNvPr>
          <p:cNvSpPr txBox="1"/>
          <p:nvPr userDrawn="1"/>
        </p:nvSpPr>
        <p:spPr>
          <a:xfrm>
            <a:off x="966901" y="525984"/>
            <a:ext cx="76179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>
                <a:latin typeface="Ballinger Mono Bold"/>
              </a:rPr>
              <a:t>&lt;RESUMEN EJECUTIVO&gt;</a:t>
            </a:r>
            <a:endParaRPr lang="es-CO" sz="2600" b="1">
              <a:latin typeface="Ballinger Mono Bold"/>
            </a:endParaRP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38000DEA-30F7-98DC-B7F1-AB1435F42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20205" y="1299789"/>
            <a:ext cx="4643438" cy="4775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indent="0" algn="just">
              <a:buNone/>
            </a:pPr>
            <a:r>
              <a:rPr lang="es-MX" sz="1400" b="1" dirty="0"/>
              <a:t>Hallazgos clave:</a:t>
            </a:r>
          </a:p>
          <a:p>
            <a:pPr marL="0" indent="0" algn="just">
              <a:buNone/>
            </a:pPr>
            <a:r>
              <a:rPr lang="es-MX" sz="1400" b="1" dirty="0"/>
              <a:t>Los </a:t>
            </a:r>
            <a:r>
              <a:rPr lang="es-MX" sz="1400" b="1" dirty="0" err="1"/>
              <a:t>insights</a:t>
            </a:r>
            <a:r>
              <a:rPr lang="es-MX" sz="1400" b="1" dirty="0"/>
              <a:t> más importantes que hallan salido de todo el estudio (barreras, conclusiones)</a:t>
            </a:r>
          </a:p>
          <a:p>
            <a:pPr marL="0" indent="0" algn="just">
              <a:buNone/>
            </a:pPr>
            <a:endParaRPr lang="es-MX" sz="1400" b="1" dirty="0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A39BF1C7-3180-70A6-9ADF-521F4F15691D}"/>
              </a:ext>
            </a:extLst>
          </p:cNvPr>
          <p:cNvCxnSpPr/>
          <p:nvPr userDrawn="1"/>
        </p:nvCxnSpPr>
        <p:spPr>
          <a:xfrm>
            <a:off x="6077744" y="1127760"/>
            <a:ext cx="0" cy="51574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texto 39">
            <a:extLst>
              <a:ext uri="{FF2B5EF4-FFF2-40B4-BE49-F238E27FC236}">
                <a16:creationId xmlns:a16="http://schemas.microsoft.com/office/drawing/2014/main" id="{8164430A-A659-D9EF-C667-D322062A1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846" y="1299789"/>
            <a:ext cx="4643438" cy="47752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20000"/>
              </a:lnSpc>
              <a:buNone/>
              <a:defRPr b="1"/>
            </a:lvl1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s-MX" sz="1400" dirty="0"/>
              <a:t>Uso del estudio: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MX" sz="1400" dirty="0"/>
              <a:t>Este documento servirá como herramienta de análisis estratégico para inversionistas y desarrolladores, con el fin de definir el rumbo del desarrollo del terreno.</a:t>
            </a:r>
          </a:p>
          <a:p>
            <a:pPr marL="0" indent="0" algn="just">
              <a:buNone/>
            </a:pPr>
            <a:endParaRPr lang="es-MX" sz="1400" b="1" dirty="0"/>
          </a:p>
          <a:p>
            <a:pPr marL="0" indent="0" algn="just">
              <a:buNone/>
            </a:pPr>
            <a:r>
              <a:rPr lang="es-MX" sz="1400" b="1" dirty="0"/>
              <a:t>Metodología de recolección de datos:</a:t>
            </a:r>
          </a:p>
          <a:p>
            <a:pPr marL="0" indent="0" algn="just">
              <a:buNone/>
            </a:pPr>
            <a:endParaRPr lang="es-MX" sz="1400" b="1" dirty="0"/>
          </a:p>
        </p:txBody>
      </p:sp>
    </p:spTree>
    <p:extLst>
      <p:ext uri="{BB962C8B-B14F-4D97-AF65-F5344CB8AC3E}">
        <p14:creationId xmlns:p14="http://schemas.microsoft.com/office/powerpoint/2010/main" val="2776343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2A34B63-A7D4-34B2-B09F-1B8E9915941C}"/>
              </a:ext>
            </a:extLst>
          </p:cNvPr>
          <p:cNvGrpSpPr/>
          <p:nvPr userDrawn="1"/>
        </p:nvGrpSpPr>
        <p:grpSpPr>
          <a:xfrm>
            <a:off x="4653402" y="2153570"/>
            <a:ext cx="2880000" cy="2880000"/>
            <a:chOff x="4562144" y="1911481"/>
            <a:chExt cx="2880000" cy="28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C664D19-4AB4-CBF5-8BF2-8B96669E1002}"/>
                </a:ext>
              </a:extLst>
            </p:cNvPr>
            <p:cNvSpPr/>
            <p:nvPr userDrawn="1"/>
          </p:nvSpPr>
          <p:spPr>
            <a:xfrm>
              <a:off x="6002144" y="3351481"/>
              <a:ext cx="1440000" cy="14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5FDABA00-093B-6F96-3FEE-D4A1CA5A1EF6}"/>
                </a:ext>
              </a:extLst>
            </p:cNvPr>
            <p:cNvSpPr/>
            <p:nvPr userDrawn="1"/>
          </p:nvSpPr>
          <p:spPr>
            <a:xfrm>
              <a:off x="4562144" y="3351481"/>
              <a:ext cx="1440000" cy="144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039117DD-0750-DF76-0500-42322B901E75}"/>
                </a:ext>
              </a:extLst>
            </p:cNvPr>
            <p:cNvSpPr/>
            <p:nvPr userDrawn="1"/>
          </p:nvSpPr>
          <p:spPr>
            <a:xfrm>
              <a:off x="4562144" y="1911481"/>
              <a:ext cx="1440000" cy="144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97EC1D0A-EA08-E969-BDAF-1569EBD00537}"/>
                </a:ext>
              </a:extLst>
            </p:cNvPr>
            <p:cNvSpPr/>
            <p:nvPr userDrawn="1"/>
          </p:nvSpPr>
          <p:spPr>
            <a:xfrm>
              <a:off x="6002144" y="1911481"/>
              <a:ext cx="1440000" cy="1440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8FB724C-68AF-8514-0B59-0D8C203FFD3A}"/>
                </a:ext>
              </a:extLst>
            </p:cNvPr>
            <p:cNvSpPr/>
            <p:nvPr userDrawn="1"/>
          </p:nvSpPr>
          <p:spPr>
            <a:xfrm>
              <a:off x="5373829" y="2739481"/>
              <a:ext cx="1224000" cy="122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21FB26C-A22D-A08C-CA57-406C53533506}"/>
              </a:ext>
            </a:extLst>
          </p:cNvPr>
          <p:cNvSpPr txBox="1"/>
          <p:nvPr userDrawn="1"/>
        </p:nvSpPr>
        <p:spPr>
          <a:xfrm>
            <a:off x="4779786" y="2186886"/>
            <a:ext cx="7943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6000" b="1">
                <a:solidFill>
                  <a:schemeClr val="bg1"/>
                </a:solidFill>
                <a:effectLst/>
                <a:latin typeface="Arial Black" panose="020B0A04020102020204" pitchFamily="34" charset="0"/>
                <a:cs typeface="Aharoni" panose="020F0502020204030204" pitchFamily="2" charset="-79"/>
              </a:rPr>
              <a:t>F</a:t>
            </a:r>
            <a:endParaRPr lang="es-CO" sz="6000" b="1">
              <a:solidFill>
                <a:schemeClr val="bg1"/>
              </a:solidFill>
              <a:effectLst/>
              <a:latin typeface="Arial Black" panose="020B0A04020102020204" pitchFamily="34" charset="0"/>
              <a:cs typeface="Aharoni" panose="020F0502020204030204" pitchFamily="2" charset="-79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5938B9-4EC3-2192-A93F-38E70C8FE23A}"/>
              </a:ext>
            </a:extLst>
          </p:cNvPr>
          <p:cNvSpPr txBox="1"/>
          <p:nvPr userDrawn="1"/>
        </p:nvSpPr>
        <p:spPr>
          <a:xfrm>
            <a:off x="6690118" y="2186886"/>
            <a:ext cx="7943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6000" b="1">
                <a:solidFill>
                  <a:schemeClr val="bg1"/>
                </a:solidFill>
                <a:effectLst/>
                <a:latin typeface="Arial Black" panose="020B0A04020102020204" pitchFamily="34" charset="0"/>
                <a:cs typeface="Aharoni" panose="020F0502020204030204" pitchFamily="2" charset="-79"/>
              </a:rPr>
              <a:t>O</a:t>
            </a:r>
            <a:endParaRPr lang="es-CO" sz="6000" b="1">
              <a:solidFill>
                <a:schemeClr val="bg1"/>
              </a:solidFill>
              <a:effectLst/>
              <a:latin typeface="Arial Black" panose="020B0A04020102020204" pitchFamily="34" charset="0"/>
              <a:cs typeface="Aharoni" panose="020F0502020204030204" pitchFamily="2" charset="-79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94D69AF-FABC-19C2-8E2B-882F6FE23CB5}"/>
              </a:ext>
            </a:extLst>
          </p:cNvPr>
          <p:cNvSpPr txBox="1"/>
          <p:nvPr userDrawn="1"/>
        </p:nvSpPr>
        <p:spPr>
          <a:xfrm>
            <a:off x="4779786" y="4002667"/>
            <a:ext cx="7943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6000" b="1">
                <a:solidFill>
                  <a:schemeClr val="bg1"/>
                </a:solidFill>
                <a:effectLst/>
                <a:latin typeface="Arial Black" panose="020B0A04020102020204" pitchFamily="34" charset="0"/>
                <a:cs typeface="Aharoni" panose="020F0502020204030204" pitchFamily="2" charset="-79"/>
              </a:rPr>
              <a:t>A</a:t>
            </a:r>
            <a:endParaRPr lang="es-CO" sz="6000" b="1">
              <a:solidFill>
                <a:schemeClr val="bg1"/>
              </a:solidFill>
              <a:effectLst/>
              <a:latin typeface="Arial Black" panose="020B0A04020102020204" pitchFamily="34" charset="0"/>
              <a:cs typeface="Aharoni" panose="020F0502020204030204" pitchFamily="2" charset="-79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8261EBF-42AB-5757-0350-CF5A347F13DF}"/>
              </a:ext>
            </a:extLst>
          </p:cNvPr>
          <p:cNvSpPr txBox="1"/>
          <p:nvPr userDrawn="1"/>
        </p:nvSpPr>
        <p:spPr>
          <a:xfrm>
            <a:off x="6690118" y="4002667"/>
            <a:ext cx="7943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6000" b="1">
                <a:solidFill>
                  <a:schemeClr val="bg1"/>
                </a:solidFill>
                <a:effectLst/>
                <a:latin typeface="Arial Black" panose="020B0A04020102020204" pitchFamily="34" charset="0"/>
                <a:cs typeface="Aharoni" panose="020F0502020204030204" pitchFamily="2" charset="-79"/>
              </a:rPr>
              <a:t>D</a:t>
            </a:r>
            <a:endParaRPr lang="es-CO" sz="6000" b="1">
              <a:solidFill>
                <a:schemeClr val="bg1"/>
              </a:solidFill>
              <a:effectLst/>
              <a:latin typeface="Arial Black" panose="020B0A04020102020204" pitchFamily="34" charset="0"/>
              <a:cs typeface="Aharoni" panose="020F0502020204030204" pitchFamily="2" charset="-79"/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B0D5E989-CBFE-5253-BEA7-62E65B376C4B}"/>
              </a:ext>
            </a:extLst>
          </p:cNvPr>
          <p:cNvCxnSpPr>
            <a:cxnSpLocks/>
          </p:cNvCxnSpPr>
          <p:nvPr userDrawn="1"/>
        </p:nvCxnSpPr>
        <p:spPr>
          <a:xfrm flipH="1">
            <a:off x="3677862" y="2405955"/>
            <a:ext cx="97200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2C2388AB-27B6-34CF-24A8-81260702D9DA}"/>
              </a:ext>
            </a:extLst>
          </p:cNvPr>
          <p:cNvCxnSpPr>
            <a:cxnSpLocks/>
          </p:cNvCxnSpPr>
          <p:nvPr userDrawn="1"/>
        </p:nvCxnSpPr>
        <p:spPr>
          <a:xfrm flipH="1">
            <a:off x="3677862" y="4779997"/>
            <a:ext cx="97200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B6C8956-35C8-0D38-0F00-946C124608FF}"/>
              </a:ext>
            </a:extLst>
          </p:cNvPr>
          <p:cNvCxnSpPr>
            <a:cxnSpLocks/>
          </p:cNvCxnSpPr>
          <p:nvPr userDrawn="1"/>
        </p:nvCxnSpPr>
        <p:spPr>
          <a:xfrm>
            <a:off x="7533402" y="4779997"/>
            <a:ext cx="97200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E3F220F7-AC6D-0EA5-EE8D-4A2B62A15258}"/>
              </a:ext>
            </a:extLst>
          </p:cNvPr>
          <p:cNvCxnSpPr>
            <a:cxnSpLocks/>
          </p:cNvCxnSpPr>
          <p:nvPr userDrawn="1"/>
        </p:nvCxnSpPr>
        <p:spPr>
          <a:xfrm>
            <a:off x="7533402" y="2405955"/>
            <a:ext cx="97200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Marcador de contenido 27">
            <a:extLst>
              <a:ext uri="{FF2B5EF4-FFF2-40B4-BE49-F238E27FC236}">
                <a16:creationId xmlns:a16="http://schemas.microsoft.com/office/drawing/2014/main" id="{FD5D06CF-E728-FB1A-0378-C17DC2E8782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9228" y="1318863"/>
            <a:ext cx="3204000" cy="2160000"/>
          </a:xfrm>
          <a:prstGeom prst="rect">
            <a:avLst/>
          </a:prstGeo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MX" dirty="0"/>
              <a:t>FORTALEZAS:</a:t>
            </a:r>
            <a:endParaRPr lang="es-CO" dirty="0"/>
          </a:p>
        </p:txBody>
      </p:sp>
      <p:sp>
        <p:nvSpPr>
          <p:cNvPr id="29" name="Marcador de contenido 27">
            <a:extLst>
              <a:ext uri="{FF2B5EF4-FFF2-40B4-BE49-F238E27FC236}">
                <a16:creationId xmlns:a16="http://schemas.microsoft.com/office/drawing/2014/main" id="{FB911C79-35CF-D710-544B-A2AA171C199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19228" y="3704477"/>
            <a:ext cx="3204000" cy="2160000"/>
          </a:xfrm>
          <a:prstGeom prst="rect">
            <a:avLst/>
          </a:prstGeo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dirty="0"/>
              <a:t>AMENAZAS:</a:t>
            </a:r>
            <a:endParaRPr lang="es-CO" dirty="0"/>
          </a:p>
        </p:txBody>
      </p:sp>
      <p:sp>
        <p:nvSpPr>
          <p:cNvPr id="30" name="Marcador de contenido 27">
            <a:extLst>
              <a:ext uri="{FF2B5EF4-FFF2-40B4-BE49-F238E27FC236}">
                <a16:creationId xmlns:a16="http://schemas.microsoft.com/office/drawing/2014/main" id="{4463DFFA-E2FC-3495-521C-90B73988DC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83644" y="1318862"/>
            <a:ext cx="3204000" cy="2160000"/>
          </a:xfrm>
          <a:prstGeom prst="rect">
            <a:avLst/>
          </a:prstGeo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MX" dirty="0"/>
              <a:t>OPORTUNIDADES:</a:t>
            </a:r>
            <a:endParaRPr lang="es-CO" dirty="0"/>
          </a:p>
        </p:txBody>
      </p:sp>
      <p:sp>
        <p:nvSpPr>
          <p:cNvPr id="31" name="Marcador de contenido 27">
            <a:extLst>
              <a:ext uri="{FF2B5EF4-FFF2-40B4-BE49-F238E27FC236}">
                <a16:creationId xmlns:a16="http://schemas.microsoft.com/office/drawing/2014/main" id="{056BFE23-6303-BC34-B595-D3E0DF530EC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83644" y="3704476"/>
            <a:ext cx="3204000" cy="2160000"/>
          </a:xfrm>
          <a:prstGeom prst="rect">
            <a:avLst/>
          </a:prstGeo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dirty="0"/>
              <a:t>DEBILIDADES:</a:t>
            </a:r>
            <a:endParaRPr lang="es-CO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675B96B-6DC9-00F6-0AA7-DF87117C1267}"/>
              </a:ext>
            </a:extLst>
          </p:cNvPr>
          <p:cNvSpPr txBox="1"/>
          <p:nvPr userDrawn="1"/>
        </p:nvSpPr>
        <p:spPr>
          <a:xfrm>
            <a:off x="966901" y="525984"/>
            <a:ext cx="76179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latin typeface="Ballinger Mono Bold"/>
              </a:rPr>
              <a:t>&lt;ANÁLISIS FODA&gt;</a:t>
            </a:r>
            <a:endParaRPr lang="es-CO" sz="2600" b="1" dirty="0">
              <a:latin typeface="Ballinger Mono Bold"/>
            </a:endParaRPr>
          </a:p>
        </p:txBody>
      </p:sp>
    </p:spTree>
    <p:extLst>
      <p:ext uri="{BB962C8B-B14F-4D97-AF65-F5344CB8AC3E}">
        <p14:creationId xmlns:p14="http://schemas.microsoft.com/office/powerpoint/2010/main" val="44211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75DED8-565C-97F7-4ECA-CCA032E57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0713" y="583859"/>
            <a:ext cx="9120836" cy="509587"/>
          </a:xfrm>
          <a:prstGeom prst="rect">
            <a:avLst/>
          </a:prstGeom>
        </p:spPr>
        <p:txBody>
          <a:bodyPr/>
          <a:lstStyle>
            <a:lvl1pPr>
              <a:buNone/>
              <a:defRPr sz="2600" b="1">
                <a:latin typeface="Ballinger Mono Bold" panose="00000800000000000000" pitchFamily="2" charset="0"/>
              </a:defRPr>
            </a:lvl1pPr>
          </a:lstStyle>
          <a:p>
            <a:pPr lvl="0"/>
            <a:r>
              <a:rPr lang="es-MX"/>
              <a:t>&lt;LOCACIÓN </a:t>
            </a:r>
            <a:r>
              <a:rPr lang="es-MX" sz="2400"/>
              <a:t>| </a:t>
            </a:r>
            <a:r>
              <a:rPr lang="es-MX"/>
              <a:t>DATOS GENERALES&gt;</a:t>
            </a:r>
            <a:endParaRPr lang="es-CO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0FB5F3B1-D43C-072F-ED94-7FFBCB1016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624" y="1381760"/>
            <a:ext cx="4860000" cy="4792078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8251D83D-339C-8E36-8036-A85C2655CF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8864" y="1381760"/>
            <a:ext cx="4860000" cy="479207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s-ES"/>
              <a:t>DATOS GENERALES</a:t>
            </a:r>
            <a:endParaRPr lang="es-CO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3F1D5A0-D0D6-1884-EA44-E7B2D0EB61A5}"/>
              </a:ext>
            </a:extLst>
          </p:cNvPr>
          <p:cNvCxnSpPr/>
          <p:nvPr userDrawn="1"/>
        </p:nvCxnSpPr>
        <p:spPr>
          <a:xfrm>
            <a:off x="6100128" y="1270000"/>
            <a:ext cx="0" cy="51574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34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75DED8-565C-97F7-4ECA-CCA032E57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0713" y="583859"/>
            <a:ext cx="9120836" cy="509587"/>
          </a:xfrm>
          <a:prstGeom prst="rect">
            <a:avLst/>
          </a:prstGeom>
        </p:spPr>
        <p:txBody>
          <a:bodyPr/>
          <a:lstStyle>
            <a:lvl1pPr>
              <a:buNone/>
              <a:defRPr sz="2600" b="1">
                <a:latin typeface="Ballinger Mono Bold" panose="00000800000000000000" pitchFamily="2" charset="0"/>
              </a:defRPr>
            </a:lvl1pPr>
          </a:lstStyle>
          <a:p>
            <a:pPr lvl="0"/>
            <a:r>
              <a:rPr lang="es-MX" dirty="0"/>
              <a:t>&lt;SECCIÓN </a:t>
            </a:r>
            <a:r>
              <a:rPr lang="es-MX" sz="2800" dirty="0"/>
              <a:t>| </a:t>
            </a:r>
            <a:r>
              <a:rPr lang="es-MX" dirty="0"/>
              <a:t>DATOS&gt;</a:t>
            </a:r>
            <a:endParaRPr lang="es-CO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EEA2AF68-B38E-48B0-BE94-DDCAF7DD49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1344" y="1262062"/>
            <a:ext cx="10972800" cy="50958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s-ES"/>
              <a:t>HEADLINE – RESUMEN: 2 LINEAS MÁXIMO</a:t>
            </a:r>
            <a:endParaRPr lang="es-CO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3174E00-C6AB-B691-4BC7-6BC472C4A7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1344" y="2079446"/>
            <a:ext cx="5265446" cy="38872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10" name="Marcador de contenido 7">
            <a:extLst>
              <a:ext uri="{FF2B5EF4-FFF2-40B4-BE49-F238E27FC236}">
                <a16:creationId xmlns:a16="http://schemas.microsoft.com/office/drawing/2014/main" id="{8E3FA8A3-BA66-5B4B-2580-385EBA5EE81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8700" y="2079445"/>
            <a:ext cx="5265446" cy="38872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número de diapositiva 2">
            <a:extLst>
              <a:ext uri="{FF2B5EF4-FFF2-40B4-BE49-F238E27FC236}">
                <a16:creationId xmlns:a16="http://schemas.microsoft.com/office/drawing/2014/main" id="{CB54A766-058D-B379-47AD-280C93EF6DB4}"/>
              </a:ext>
            </a:extLst>
          </p:cNvPr>
          <p:cNvSpPr txBox="1">
            <a:spLocks/>
          </p:cNvSpPr>
          <p:nvPr userDrawn="1"/>
        </p:nvSpPr>
        <p:spPr>
          <a:xfrm>
            <a:off x="349654" y="6091578"/>
            <a:ext cx="32819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r" defTabSz="914400" rtl="0" eaLnBrk="1" latinLnBrk="0" hangingPunct="1">
              <a:defRPr sz="1196" kern="1200">
                <a:solidFill>
                  <a:schemeClr val="tx1">
                    <a:lumMod val="85000"/>
                    <a:lumOff val="15000"/>
                  </a:schemeClr>
                </a:solidFill>
                <a:latin typeface="FSP DEMO - Ballinger Mono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FUENTE:</a:t>
            </a:r>
          </a:p>
        </p:txBody>
      </p:sp>
    </p:spTree>
    <p:extLst>
      <p:ext uri="{BB962C8B-B14F-4D97-AF65-F5344CB8AC3E}">
        <p14:creationId xmlns:p14="http://schemas.microsoft.com/office/powerpoint/2010/main" val="3705263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EAD09F-DA71-D283-D65D-ADD15268F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75DED8-565C-97F7-4ECA-CCA032E57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0713" y="583859"/>
            <a:ext cx="9120836" cy="509587"/>
          </a:xfrm>
          <a:prstGeom prst="rect">
            <a:avLst/>
          </a:prstGeom>
        </p:spPr>
        <p:txBody>
          <a:bodyPr/>
          <a:lstStyle>
            <a:lvl1pPr>
              <a:buNone/>
              <a:defRPr sz="2600" b="1">
                <a:latin typeface="Ballinger Mono Bold" panose="00000800000000000000" pitchFamily="2" charset="0"/>
              </a:defRPr>
            </a:lvl1pPr>
          </a:lstStyle>
          <a:p>
            <a:pPr lvl="0"/>
            <a:r>
              <a:rPr lang="es-MX"/>
              <a:t>&lt;CONCLUSIONES&gt;</a:t>
            </a:r>
            <a:endParaRPr lang="es-CO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D0D5B2D-6F62-3A24-6928-CB8E4D1B9DC3}"/>
              </a:ext>
            </a:extLst>
          </p:cNvPr>
          <p:cNvSpPr/>
          <p:nvPr userDrawn="1"/>
        </p:nvSpPr>
        <p:spPr>
          <a:xfrm>
            <a:off x="960713" y="1435262"/>
            <a:ext cx="4155297" cy="4621402"/>
          </a:xfrm>
          <a:prstGeom prst="roundRect">
            <a:avLst>
              <a:gd name="adj" fmla="val 4601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4E4C027-3DB7-3144-45AF-36E4C31BD9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0363" y="1434911"/>
            <a:ext cx="5754412" cy="4621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CONCLUSIONES ESPECÍFICAS</a:t>
            </a:r>
            <a:endParaRPr lang="es-CO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CA09443-308F-10EA-25B7-62247B4CF7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439" y="1435099"/>
            <a:ext cx="4155298" cy="4621213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CONCLUSIÓN GENERAL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8878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169A57-12AB-E397-5729-E5055B9B0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B334BF-5A67-EDCE-F0EF-49CD1D8EDB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45" t="6368" r="420"/>
          <a:stretch>
            <a:fillRect/>
          </a:stretch>
        </p:blipFill>
        <p:spPr>
          <a:xfrm>
            <a:off x="0" y="-11575"/>
            <a:ext cx="12155488" cy="78232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9A1F10E-E48E-767F-F104-1B0B0E79CC5C}"/>
              </a:ext>
            </a:extLst>
          </p:cNvPr>
          <p:cNvSpPr/>
          <p:nvPr userDrawn="1"/>
        </p:nvSpPr>
        <p:spPr>
          <a:xfrm>
            <a:off x="0" y="770745"/>
            <a:ext cx="12149334" cy="608725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F3488098-2D7B-949A-A45C-9EBA9B2E5B79}"/>
              </a:ext>
            </a:extLst>
          </p:cNvPr>
          <p:cNvSpPr txBox="1">
            <a:spLocks/>
          </p:cNvSpPr>
          <p:nvPr userDrawn="1"/>
        </p:nvSpPr>
        <p:spPr>
          <a:xfrm>
            <a:off x="795647" y="2095871"/>
            <a:ext cx="10582734" cy="2657104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algn="l" defTabSz="9116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795" b="1" i="0" kern="1200">
                <a:solidFill>
                  <a:schemeClr val="tx1"/>
                </a:solidFill>
                <a:latin typeface="Ballinger Mono Bold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4800">
                <a:solidFill>
                  <a:schemeClr val="bg1"/>
                </a:solidFill>
                <a:latin typeface="Ballinger Mono Light"/>
                <a:sym typeface="Delivery" panose="020F0503020204020204" pitchFamily="34" charset="0"/>
              </a:rPr>
              <a:t>¡Gracias!</a:t>
            </a:r>
            <a:endParaRPr lang="es-ES" sz="1750">
              <a:solidFill>
                <a:schemeClr val="bg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2C9B028-1263-BC22-E010-371FC6718B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159" y="5709704"/>
            <a:ext cx="2004561" cy="550844"/>
          </a:xfrm>
          <a:prstGeom prst="rect">
            <a:avLst/>
          </a:prstGeom>
        </p:spPr>
      </p:pic>
      <p:pic>
        <p:nvPicPr>
          <p:cNvPr id="12" name="Imagen 11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C4FC9489-0674-643B-1EB5-334A5959E3F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70939" y="5843208"/>
            <a:ext cx="2709729" cy="37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5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57700CA-AF76-5D79-EAA9-1CABDFB9B4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18809" y="1366982"/>
            <a:ext cx="5954713" cy="4701309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ADCD29-49AE-55FF-B135-1C4B0762D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084" t="18831" r="12688" b="229"/>
          <a:stretch>
            <a:fillRect/>
          </a:stretch>
        </p:blipFill>
        <p:spPr>
          <a:xfrm>
            <a:off x="-12371" y="0"/>
            <a:ext cx="4397374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2BA120E-E9E6-D773-2891-C704571DBE57}"/>
              </a:ext>
            </a:extLst>
          </p:cNvPr>
          <p:cNvSpPr txBox="1"/>
          <p:nvPr userDrawn="1"/>
        </p:nvSpPr>
        <p:spPr>
          <a:xfrm>
            <a:off x="5254626" y="391955"/>
            <a:ext cx="43973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000" b="1" dirty="0">
                <a:latin typeface="Ballinger Mono Bold" panose="00000800000000000000"/>
              </a:rPr>
              <a:t>INDICE</a:t>
            </a:r>
            <a:endParaRPr lang="es-CO" sz="3000" b="1" dirty="0">
              <a:latin typeface="Ballinger Mono Bold" panose="00000800000000000000"/>
            </a:endParaRP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1A733906-C15F-A51A-141D-A98121C71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31881" y="6360573"/>
            <a:ext cx="4440237" cy="257493"/>
          </a:xfrm>
          <a:prstGeom prst="rect">
            <a:avLst/>
          </a:prstGeom>
        </p:spPr>
        <p:txBody>
          <a:bodyPr/>
          <a:lstStyle>
            <a:lvl1pPr algn="r">
              <a:buNone/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CIUDAD </a:t>
            </a:r>
            <a:r>
              <a:rPr lang="es-MX" sz="1100"/>
              <a:t>|</a:t>
            </a:r>
            <a:r>
              <a:rPr lang="es-MX"/>
              <a:t> FECHA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1476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57700CA-AF76-5D79-EAA9-1CABDFB9B4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18809" y="1366982"/>
            <a:ext cx="5954713" cy="4701309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ADCD29-49AE-55FF-B135-1C4B0762D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084" t="18831" r="12688" b="229"/>
          <a:stretch>
            <a:fillRect/>
          </a:stretch>
        </p:blipFill>
        <p:spPr>
          <a:xfrm>
            <a:off x="-12371" y="0"/>
            <a:ext cx="4397374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2BA120E-E9E6-D773-2891-C704571DBE57}"/>
              </a:ext>
            </a:extLst>
          </p:cNvPr>
          <p:cNvSpPr txBox="1"/>
          <p:nvPr userDrawn="1"/>
        </p:nvSpPr>
        <p:spPr>
          <a:xfrm>
            <a:off x="5254626" y="391955"/>
            <a:ext cx="4397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Ballinger Mono Bold" panose="00000800000000000000"/>
              </a:rPr>
              <a:t>CONTENIDO</a:t>
            </a: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1A733906-C15F-A51A-141D-A98121C71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31881" y="6360573"/>
            <a:ext cx="4440237" cy="257493"/>
          </a:xfrm>
          <a:prstGeom prst="rect">
            <a:avLst/>
          </a:prstGeom>
        </p:spPr>
        <p:txBody>
          <a:bodyPr/>
          <a:lstStyle>
            <a:lvl1pPr algn="r">
              <a:buNone/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CIUDAD </a:t>
            </a:r>
            <a:r>
              <a:rPr lang="es-MX" sz="1100"/>
              <a:t>|</a:t>
            </a:r>
            <a:r>
              <a:rPr lang="es-MX"/>
              <a:t> FECHA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6642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5ADCD29-49AE-55FF-B135-1C4B0762D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084" t="18831" r="12688" b="229"/>
          <a:stretch>
            <a:fillRect/>
          </a:stretch>
        </p:blipFill>
        <p:spPr>
          <a:xfrm>
            <a:off x="-12371" y="0"/>
            <a:ext cx="4397374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2BA120E-E9E6-D773-2891-C704571DBE57}"/>
              </a:ext>
            </a:extLst>
          </p:cNvPr>
          <p:cNvSpPr txBox="1"/>
          <p:nvPr userDrawn="1"/>
        </p:nvSpPr>
        <p:spPr>
          <a:xfrm>
            <a:off x="5254626" y="391955"/>
            <a:ext cx="4397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>
                <a:latin typeface="Ballinger Mono Bold" panose="00000800000000000000"/>
              </a:rPr>
              <a:t>INDICE</a:t>
            </a:r>
            <a:endParaRPr lang="es-CO" sz="4000" b="1" dirty="0">
              <a:latin typeface="Ballinger Mono Bold" panose="00000800000000000000"/>
            </a:endParaRP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1A733906-C15F-A51A-141D-A98121C71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31881" y="6360573"/>
            <a:ext cx="4440237" cy="257493"/>
          </a:xfrm>
          <a:prstGeom prst="rect">
            <a:avLst/>
          </a:prstGeom>
        </p:spPr>
        <p:txBody>
          <a:bodyPr/>
          <a:lstStyle>
            <a:lvl1pPr algn="r">
              <a:buNone/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CIUDAD </a:t>
            </a:r>
            <a:r>
              <a:rPr lang="es-MX" sz="1100"/>
              <a:t>|</a:t>
            </a:r>
            <a:r>
              <a:rPr lang="es-MX"/>
              <a:t> FECHA</a:t>
            </a:r>
            <a:endParaRPr lang="es-CO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F82EBEC-047F-C441-4CA6-C74BAF78D896}"/>
              </a:ext>
            </a:extLst>
          </p:cNvPr>
          <p:cNvSpPr/>
          <p:nvPr userDrawn="1"/>
        </p:nvSpPr>
        <p:spPr>
          <a:xfrm>
            <a:off x="4910654" y="1890005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1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4E149C2-39DF-3246-D512-22F97DE45F79}"/>
              </a:ext>
            </a:extLst>
          </p:cNvPr>
          <p:cNvSpPr/>
          <p:nvPr userDrawn="1"/>
        </p:nvSpPr>
        <p:spPr>
          <a:xfrm>
            <a:off x="4910651" y="2533342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2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85BCDA7-33D8-6CA6-25B7-9703C1D7E3B2}"/>
              </a:ext>
            </a:extLst>
          </p:cNvPr>
          <p:cNvSpPr/>
          <p:nvPr userDrawn="1"/>
        </p:nvSpPr>
        <p:spPr>
          <a:xfrm>
            <a:off x="4910651" y="3176679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3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2B2C802-A1E8-93BA-7D29-6D0EC5D72721}"/>
              </a:ext>
            </a:extLst>
          </p:cNvPr>
          <p:cNvSpPr/>
          <p:nvPr userDrawn="1"/>
        </p:nvSpPr>
        <p:spPr>
          <a:xfrm>
            <a:off x="4910652" y="3820016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4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CF0B98B-0DB5-AE98-7730-5C54A2148DB3}"/>
              </a:ext>
            </a:extLst>
          </p:cNvPr>
          <p:cNvSpPr/>
          <p:nvPr userDrawn="1"/>
        </p:nvSpPr>
        <p:spPr>
          <a:xfrm>
            <a:off x="4910653" y="4463353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5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FF96CB1-84FB-D4C1-2C01-ACD8EE31CE04}"/>
              </a:ext>
            </a:extLst>
          </p:cNvPr>
          <p:cNvSpPr/>
          <p:nvPr userDrawn="1"/>
        </p:nvSpPr>
        <p:spPr>
          <a:xfrm>
            <a:off x="4910651" y="5106689"/>
            <a:ext cx="905183" cy="374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s-MX" sz="2800" b="1">
                <a:latin typeface="DIN Arabic" panose="020B0604020202020204" charset="-78"/>
                <a:cs typeface="DIN Arabic" panose="020B0604020202020204" charset="-78"/>
              </a:rPr>
              <a:t>6</a:t>
            </a:r>
            <a:endParaRPr lang="es-CO" sz="2800" b="1">
              <a:latin typeface="DIN Arabic" panose="020B0604020202020204" charset="-78"/>
              <a:cs typeface="DIN Arabic" panose="020B0604020202020204" charset="-78"/>
            </a:endParaRPr>
          </a:p>
        </p:txBody>
      </p:sp>
      <p:sp>
        <p:nvSpPr>
          <p:cNvPr id="12" name="Marcador de texto 1">
            <a:extLst>
              <a:ext uri="{FF2B5EF4-FFF2-40B4-BE49-F238E27FC236}">
                <a16:creationId xmlns:a16="http://schemas.microsoft.com/office/drawing/2014/main" id="{AE49D4AB-F869-C252-7868-F2E5CA273AF9}"/>
              </a:ext>
            </a:extLst>
          </p:cNvPr>
          <p:cNvSpPr txBox="1">
            <a:spLocks/>
          </p:cNvSpPr>
          <p:nvPr userDrawn="1"/>
        </p:nvSpPr>
        <p:spPr>
          <a:xfrm>
            <a:off x="6008919" y="1890165"/>
            <a:ext cx="4320000" cy="374650"/>
          </a:xfrm>
          <a:prstGeom prst="rect">
            <a:avLst/>
          </a:prstGeom>
        </p:spPr>
        <p:txBody>
          <a:bodyPr anchor="ctr"/>
          <a:lstStyle>
            <a:lvl1pPr marL="227914" indent="-227914" algn="r" defTabSz="911657" rtl="0" eaLnBrk="1" latinLnBrk="0" hangingPunct="1">
              <a:lnSpc>
                <a:spcPct val="90000"/>
              </a:lnSpc>
              <a:spcBef>
                <a:spcPts val="997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Ballinger Mono Light" pitchFamily="2" charset="77"/>
                <a:ea typeface="+mn-ea"/>
                <a:cs typeface="+mn-cs"/>
              </a:defRPr>
            </a:lvl1pPr>
            <a:lvl2pPr marL="683743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Ballinger Mono Light" pitchFamily="2" charset="77"/>
                <a:ea typeface="+mn-ea"/>
                <a:cs typeface="+mn-cs"/>
              </a:defRPr>
            </a:lvl2pPr>
            <a:lvl3pPr marL="1139571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Ballinger Mono Light" pitchFamily="2" charset="77"/>
                <a:ea typeface="+mn-ea"/>
                <a:cs typeface="+mn-cs"/>
              </a:defRPr>
            </a:lvl3pPr>
            <a:lvl4pPr marL="1595399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Ballinger Mono Light" pitchFamily="2" charset="77"/>
                <a:ea typeface="+mn-ea"/>
                <a:cs typeface="+mn-cs"/>
              </a:defRPr>
            </a:lvl4pPr>
            <a:lvl5pPr marL="2051228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bg1"/>
                </a:solidFill>
                <a:latin typeface="Ballinger Mono Light" pitchFamily="2" charset="77"/>
                <a:ea typeface="+mn-ea"/>
                <a:cs typeface="+mn-cs"/>
              </a:defRPr>
            </a:lvl5pPr>
            <a:lvl6pPr marL="2507056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2885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713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4541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>
                <a:latin typeface="Ballinger Mono Light" panose="00000400000000000000" pitchFamily="50" charset="0"/>
              </a:rPr>
              <a:t>Resumen ejecutivo</a:t>
            </a:r>
          </a:p>
        </p:txBody>
      </p:sp>
      <p:sp>
        <p:nvSpPr>
          <p:cNvPr id="13" name="Marcador de texto 1">
            <a:extLst>
              <a:ext uri="{FF2B5EF4-FFF2-40B4-BE49-F238E27FC236}">
                <a16:creationId xmlns:a16="http://schemas.microsoft.com/office/drawing/2014/main" id="{56C9E0E3-F8C3-B423-40D7-1CDA01EA4DF2}"/>
              </a:ext>
            </a:extLst>
          </p:cNvPr>
          <p:cNvSpPr txBox="1">
            <a:spLocks/>
          </p:cNvSpPr>
          <p:nvPr userDrawn="1"/>
        </p:nvSpPr>
        <p:spPr>
          <a:xfrm>
            <a:off x="6008920" y="2533662"/>
            <a:ext cx="4320000" cy="374650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>
                <a:latin typeface="Ballinger Mono Light" panose="00000400000000000000" pitchFamily="50" charset="0"/>
              </a:rPr>
              <a:t>Análisis de entorno</a:t>
            </a:r>
          </a:p>
        </p:txBody>
      </p:sp>
      <p:sp>
        <p:nvSpPr>
          <p:cNvPr id="14" name="Marcador de texto 1">
            <a:extLst>
              <a:ext uri="{FF2B5EF4-FFF2-40B4-BE49-F238E27FC236}">
                <a16:creationId xmlns:a16="http://schemas.microsoft.com/office/drawing/2014/main" id="{6C34C5E1-9E0B-ABCE-C1AD-FFA2FAED517D}"/>
              </a:ext>
            </a:extLst>
          </p:cNvPr>
          <p:cNvSpPr txBox="1">
            <a:spLocks/>
          </p:cNvSpPr>
          <p:nvPr userDrawn="1"/>
        </p:nvSpPr>
        <p:spPr>
          <a:xfrm>
            <a:off x="6008920" y="3176999"/>
            <a:ext cx="4320000" cy="374650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>
                <a:latin typeface="Ballinger Mono Light" panose="00000400000000000000" pitchFamily="50" charset="0"/>
              </a:rPr>
              <a:t>Análisis de localización</a:t>
            </a:r>
          </a:p>
        </p:txBody>
      </p:sp>
      <p:sp>
        <p:nvSpPr>
          <p:cNvPr id="15" name="Marcador de texto 1">
            <a:extLst>
              <a:ext uri="{FF2B5EF4-FFF2-40B4-BE49-F238E27FC236}">
                <a16:creationId xmlns:a16="http://schemas.microsoft.com/office/drawing/2014/main" id="{5870CBBC-3674-3F32-39A7-926323F7742E}"/>
              </a:ext>
            </a:extLst>
          </p:cNvPr>
          <p:cNvSpPr txBox="1">
            <a:spLocks/>
          </p:cNvSpPr>
          <p:nvPr userDrawn="1"/>
        </p:nvSpPr>
        <p:spPr>
          <a:xfrm>
            <a:off x="6008920" y="3820336"/>
            <a:ext cx="4320000" cy="374650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>
                <a:latin typeface="Ballinger Mono Light" panose="00000400000000000000" pitchFamily="50" charset="0"/>
              </a:rPr>
              <a:t>Informe de mercado</a:t>
            </a:r>
          </a:p>
        </p:txBody>
      </p:sp>
      <p:sp>
        <p:nvSpPr>
          <p:cNvPr id="16" name="Marcador de texto 1">
            <a:extLst>
              <a:ext uri="{FF2B5EF4-FFF2-40B4-BE49-F238E27FC236}">
                <a16:creationId xmlns:a16="http://schemas.microsoft.com/office/drawing/2014/main" id="{417D2468-7A49-D7A1-AB94-319FBE23A19C}"/>
              </a:ext>
            </a:extLst>
          </p:cNvPr>
          <p:cNvSpPr txBox="1">
            <a:spLocks/>
          </p:cNvSpPr>
          <p:nvPr userDrawn="1"/>
        </p:nvSpPr>
        <p:spPr>
          <a:xfrm>
            <a:off x="6008919" y="4463673"/>
            <a:ext cx="4320000" cy="374650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dirty="0">
                <a:latin typeface="Ballinger Mono Light" panose="00000400000000000000" pitchFamily="50" charset="0"/>
              </a:rPr>
              <a:t>Análisis de factibilidad económica</a:t>
            </a:r>
          </a:p>
        </p:txBody>
      </p:sp>
      <p:sp>
        <p:nvSpPr>
          <p:cNvPr id="17" name="Marcador de texto 1">
            <a:extLst>
              <a:ext uri="{FF2B5EF4-FFF2-40B4-BE49-F238E27FC236}">
                <a16:creationId xmlns:a16="http://schemas.microsoft.com/office/drawing/2014/main" id="{82411596-4B45-B7C3-55AC-370F106E27FD}"/>
              </a:ext>
            </a:extLst>
          </p:cNvPr>
          <p:cNvSpPr txBox="1">
            <a:spLocks/>
          </p:cNvSpPr>
          <p:nvPr userDrawn="1"/>
        </p:nvSpPr>
        <p:spPr>
          <a:xfrm>
            <a:off x="6008919" y="5106849"/>
            <a:ext cx="4320000" cy="374650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dirty="0">
                <a:latin typeface="Ballinger Mono Light" panose="00000400000000000000" pitchFamily="50" charset="0"/>
              </a:rPr>
              <a:t>Conclusiones y recomendaciones</a:t>
            </a:r>
          </a:p>
        </p:txBody>
      </p:sp>
    </p:spTree>
    <p:extLst>
      <p:ext uri="{BB962C8B-B14F-4D97-AF65-F5344CB8AC3E}">
        <p14:creationId xmlns:p14="http://schemas.microsoft.com/office/powerpoint/2010/main" val="45092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F7B2D-EB53-0A45-DE4C-E8DE6EFFB9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3826" y="466726"/>
            <a:ext cx="5177847" cy="429201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r>
              <a:rPr lang="es-ES"/>
              <a:t>PAIS / ESTADO / CIUDAD</a:t>
            </a:r>
            <a:endParaRPr lang="es-CO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7F37512-78BD-8B55-6713-E1141DF75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A866B307-AFCB-32D2-2095-74E2C539F0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506913" cy="6068291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57700CA-AF76-5D79-EAA9-1CABDFB9B4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18809" y="1366982"/>
            <a:ext cx="5954713" cy="4701309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s-ES"/>
              <a:t>INFORMACION GENERAL SOBRE LA LOCACIÓN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7239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465356-8AC4-3F1E-64C9-68883FC3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5488" cy="685800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6B881EB-461D-DADC-4CB5-E2770A5CB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28" y="2284062"/>
            <a:ext cx="3816466" cy="228987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50000"/>
              </a:lnSpc>
              <a:defRPr/>
            </a:lvl1pPr>
          </a:lstStyle>
          <a:p>
            <a:r>
              <a:rPr lang="es-MX"/>
              <a:t>Haz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26882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871E0A-FCBD-A782-BFCB-E212AB54F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4813" y="6356351"/>
            <a:ext cx="32819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6">
                <a:solidFill>
                  <a:schemeClr val="tx1">
                    <a:lumMod val="85000"/>
                    <a:lumOff val="15000"/>
                  </a:schemeClr>
                </a:solidFill>
                <a:latin typeface="FSP DEMO - Ballinger Mono" pitchFamily="2" charset="77"/>
              </a:defRPr>
            </a:lvl1pPr>
          </a:lstStyle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C0D618E-FE07-1784-AE24-5D1AE6A7C0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636" y="518085"/>
            <a:ext cx="418928" cy="527292"/>
          </a:xfrm>
          <a:prstGeom prst="rect">
            <a:avLst/>
          </a:prstGeom>
        </p:spPr>
      </p:pic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CDE8B120-6DE5-A395-1F1C-35AE1D851856}"/>
              </a:ext>
            </a:extLst>
          </p:cNvPr>
          <p:cNvSpPr txBox="1">
            <a:spLocks/>
          </p:cNvSpPr>
          <p:nvPr/>
        </p:nvSpPr>
        <p:spPr>
          <a:xfrm>
            <a:off x="8809530" y="408025"/>
            <a:ext cx="3057265" cy="747412"/>
          </a:xfrm>
          <a:prstGeom prst="rect">
            <a:avLst/>
          </a:prstGeom>
        </p:spPr>
        <p:txBody>
          <a:bodyPr vert="horz" lIns="91166" tIns="45583" rIns="91166" bIns="45583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FSP DEMO - Ballinger Mono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es-MX" sz="1595" b="1" i="0">
                <a:latin typeface="Ballinger Mono Bold" pitchFamily="2" charset="77"/>
              </a:rPr>
              <a:t>&lt;Data Science&gt;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4AF3FC-2AD3-0217-4F77-E30FFCE2C9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0636" y="6449534"/>
            <a:ext cx="1949943" cy="17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32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26" r:id="rId2"/>
    <p:sldLayoutId id="2147483731" r:id="rId3"/>
    <p:sldLayoutId id="2147483719" r:id="rId4"/>
    <p:sldLayoutId id="2147483722" r:id="rId5"/>
    <p:sldLayoutId id="2147483723" r:id="rId6"/>
    <p:sldLayoutId id="2147483724" r:id="rId7"/>
    <p:sldLayoutId id="2147483725" r:id="rId8"/>
    <p:sldLayoutId id="2147483728" r:id="rId9"/>
  </p:sldLayoutIdLst>
  <p:hf hdr="0" dt="0"/>
  <p:txStyles>
    <p:titleStyle>
      <a:lvl1pPr algn="l" defTabSz="911657" rtl="0" eaLnBrk="1" latinLnBrk="0" hangingPunct="1">
        <a:lnSpc>
          <a:spcPct val="90000"/>
        </a:lnSpc>
        <a:spcBef>
          <a:spcPct val="0"/>
        </a:spcBef>
        <a:buNone/>
        <a:defRPr sz="2393" b="1" i="0" kern="1200">
          <a:solidFill>
            <a:schemeClr val="tx1"/>
          </a:solidFill>
          <a:latin typeface="Ballinger Mono Bold" pitchFamily="2" charset="77"/>
          <a:ea typeface="+mj-ea"/>
          <a:cs typeface="+mj-cs"/>
        </a:defRPr>
      </a:lvl1pPr>
    </p:titleStyle>
    <p:bodyStyle>
      <a:lvl1pPr marL="227914" indent="-227914" algn="l" defTabSz="911657" rtl="0" eaLnBrk="1" latinLnBrk="0" hangingPunct="1">
        <a:lnSpc>
          <a:spcPct val="90000"/>
        </a:lnSpc>
        <a:spcBef>
          <a:spcPts val="997"/>
        </a:spcBef>
        <a:buFont typeface="Arial" panose="020B0604020202020204" pitchFamily="34" charset="0"/>
        <a:buChar char="•"/>
        <a:defRPr sz="1595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1pPr>
      <a:lvl2pPr marL="683743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6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2pPr>
      <a:lvl3pPr marL="1139571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196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3pPr>
      <a:lvl4pPr marL="1595399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097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4pPr>
      <a:lvl5pPr marL="2051228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097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5pPr>
      <a:lvl6pPr marL="2507056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2885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18713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4541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828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657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7485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3314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79142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4970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0799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6627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871E0A-FCBD-A782-BFCB-E212AB54F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4813" y="6356351"/>
            <a:ext cx="32819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6">
                <a:solidFill>
                  <a:schemeClr val="tx1">
                    <a:lumMod val="85000"/>
                    <a:lumOff val="15000"/>
                  </a:schemeClr>
                </a:solidFill>
                <a:latin typeface="FSP DEMO - Ballinger Mono" pitchFamily="2" charset="77"/>
              </a:defRPr>
            </a:lvl1pPr>
          </a:lstStyle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C0D618E-FE07-1784-AE24-5D1AE6A7C0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363" y="408025"/>
            <a:ext cx="418928" cy="527292"/>
          </a:xfrm>
          <a:prstGeom prst="rect">
            <a:avLst/>
          </a:prstGeom>
        </p:spPr>
      </p:pic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CDE8B120-6DE5-A395-1F1C-35AE1D851856}"/>
              </a:ext>
            </a:extLst>
          </p:cNvPr>
          <p:cNvSpPr txBox="1">
            <a:spLocks/>
          </p:cNvSpPr>
          <p:nvPr/>
        </p:nvSpPr>
        <p:spPr>
          <a:xfrm>
            <a:off x="8809530" y="297965"/>
            <a:ext cx="3057265" cy="747412"/>
          </a:xfrm>
          <a:prstGeom prst="rect">
            <a:avLst/>
          </a:prstGeom>
        </p:spPr>
        <p:txBody>
          <a:bodyPr vert="horz" lIns="91166" tIns="45583" rIns="91166" bIns="45583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FSP DEMO - Ballinger Mono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es-MX" sz="1595" b="1" i="0">
                <a:latin typeface="Ballinger Mono Bold" pitchFamily="2" charset="77"/>
              </a:rPr>
              <a:t>&lt;Data </a:t>
            </a:r>
            <a:r>
              <a:rPr lang="es-MX" sz="1595" b="1" i="0" err="1">
                <a:latin typeface="Ballinger Mono Bold" pitchFamily="2" charset="77"/>
              </a:rPr>
              <a:t>Science</a:t>
            </a:r>
            <a:r>
              <a:rPr lang="es-MX" sz="1595" b="1" i="0">
                <a:latin typeface="Ballinger Mono Bold" pitchFamily="2" charset="77"/>
              </a:rPr>
              <a:t>&gt;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4AF3FC-2AD3-0217-4F77-E30FFCE2C9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636" y="6449534"/>
            <a:ext cx="1949943" cy="17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4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2" r:id="rId2"/>
    <p:sldLayoutId id="2147483730" r:id="rId3"/>
    <p:sldLayoutId id="2147483648" r:id="rId4"/>
    <p:sldLayoutId id="2147483729" r:id="rId5"/>
  </p:sldLayoutIdLst>
  <p:hf hdr="0" dt="0"/>
  <p:txStyles>
    <p:titleStyle>
      <a:lvl1pPr algn="l" defTabSz="911657" rtl="0" eaLnBrk="1" latinLnBrk="0" hangingPunct="1">
        <a:lnSpc>
          <a:spcPct val="90000"/>
        </a:lnSpc>
        <a:spcBef>
          <a:spcPct val="0"/>
        </a:spcBef>
        <a:buNone/>
        <a:defRPr sz="2393" b="1" i="0" kern="1200">
          <a:solidFill>
            <a:schemeClr val="tx1"/>
          </a:solidFill>
          <a:latin typeface="Ballinger Mono Bold" pitchFamily="2" charset="77"/>
          <a:ea typeface="+mj-ea"/>
          <a:cs typeface="+mj-cs"/>
        </a:defRPr>
      </a:lvl1pPr>
    </p:titleStyle>
    <p:bodyStyle>
      <a:lvl1pPr marL="227914" indent="-227914" algn="l" defTabSz="911657" rtl="0" eaLnBrk="1" latinLnBrk="0" hangingPunct="1">
        <a:lnSpc>
          <a:spcPct val="90000"/>
        </a:lnSpc>
        <a:spcBef>
          <a:spcPts val="997"/>
        </a:spcBef>
        <a:buFont typeface="Arial" panose="020B0604020202020204" pitchFamily="34" charset="0"/>
        <a:buChar char="•"/>
        <a:defRPr sz="1595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1pPr>
      <a:lvl2pPr marL="683743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6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2pPr>
      <a:lvl3pPr marL="1139571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196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3pPr>
      <a:lvl4pPr marL="1595399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097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4pPr>
      <a:lvl5pPr marL="2051228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097" b="0" i="0" kern="1200">
          <a:solidFill>
            <a:schemeClr val="tx1"/>
          </a:solidFill>
          <a:latin typeface="Ballinger Mono Light" pitchFamily="2" charset="77"/>
          <a:ea typeface="+mn-ea"/>
          <a:cs typeface="+mn-cs"/>
        </a:defRPr>
      </a:lvl5pPr>
      <a:lvl6pPr marL="2507056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2885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18713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4541" indent="-227914" algn="l" defTabSz="9116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828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657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7485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3314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79142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4970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0799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6627" algn="l" defTabSz="911657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09DC5-52C2-AA48-1492-AE7FE0EB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20" y="2246098"/>
            <a:ext cx="6480000" cy="683916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accent4"/>
                </a:solidFill>
                <a:latin typeface="Ballinger Mono Bold" panose="00000800000000000000"/>
              </a:rPr>
              <a:t>&lt;Estudio de mayor y mejor uso&gt;</a:t>
            </a:r>
            <a:br>
              <a:rPr lang="es-MX" dirty="0">
                <a:solidFill>
                  <a:schemeClr val="accent4"/>
                </a:solidFill>
                <a:latin typeface="Ballinger Mono Bold" panose="00000800000000000000"/>
              </a:rPr>
            </a:br>
            <a:endParaRPr lang="es-CO" dirty="0">
              <a:solidFill>
                <a:schemeClr val="accent4"/>
              </a:solidFill>
              <a:latin typeface="Ballinger Mono Bold" panose="0000080000000000000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4F09EC-6F73-2B47-A339-C0A00F8666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México  | </a:t>
            </a:r>
            <a:r>
              <a:rPr lang="en-US" dirty="0" err="1"/>
              <a:t>Enero</a:t>
            </a:r>
            <a:r>
              <a:rPr lang="en-US" dirty="0"/>
              <a:t> 2026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6471E6-2F61-4DBD-DD17-7CD069DFDCDA}"/>
              </a:ext>
            </a:extLst>
          </p:cNvPr>
          <p:cNvSpPr txBox="1"/>
          <p:nvPr/>
        </p:nvSpPr>
        <p:spPr>
          <a:xfrm>
            <a:off x="408820" y="3236959"/>
            <a:ext cx="64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4"/>
                </a:solidFill>
                <a:latin typeface="Ballinger Mono Bold" panose="00000800000000000000"/>
              </a:rPr>
              <a:t>Guadalajara </a:t>
            </a:r>
            <a:r>
              <a:rPr lang="en-US" dirty="0">
                <a:solidFill>
                  <a:schemeClr val="accent4"/>
                </a:solidFill>
                <a:latin typeface="Ballinger Mono Bold" panose="00000800000000000000"/>
              </a:rPr>
              <a:t>| México  | </a:t>
            </a:r>
            <a:r>
              <a:rPr lang="en-US" dirty="0" err="1">
                <a:solidFill>
                  <a:schemeClr val="accent4"/>
                </a:solidFill>
                <a:latin typeface="Ballinger Mono Bold" panose="00000800000000000000"/>
              </a:rPr>
              <a:t>Enero</a:t>
            </a:r>
            <a:r>
              <a:rPr lang="en-US" dirty="0">
                <a:solidFill>
                  <a:schemeClr val="accent4"/>
                </a:solidFill>
                <a:latin typeface="Ballinger Mono Bold" panose="00000800000000000000"/>
              </a:rPr>
              <a:t> 2026</a:t>
            </a:r>
            <a:endParaRPr lang="es-CO" dirty="0">
              <a:solidFill>
                <a:schemeClr val="accent4"/>
              </a:solidFill>
              <a:latin typeface="Ballinger Mono Bold" panose="000008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58745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4683C3B-DF30-91A7-5BE3-780E55987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155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6EEE9DD-728E-5FEC-AC05-D854AEDD7D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E9FC06-7C1F-CF24-0AC5-128061C01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371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E6F99B3-3C50-7121-4217-A365BD04D0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4813" y="6356351"/>
            <a:ext cx="3281982" cy="365125"/>
          </a:xfrm>
        </p:spPr>
        <p:txBody>
          <a:bodyPr/>
          <a:lstStyle/>
          <a:p>
            <a:fld id="{B6F15528-21DE-4FAA-801E-634DDDAF4B2B}" type="slidenum">
              <a:rPr lang="es-MX" smtClean="0"/>
              <a:t>3</a:t>
            </a:fld>
            <a:endParaRPr lang="es-MX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82F51E2-BB36-40B8-0B46-A67963CF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3500"/>
              <a:t>Resumen Ejecutivo</a:t>
            </a:r>
            <a:endParaRPr lang="es-CO" sz="3500"/>
          </a:p>
        </p:txBody>
      </p:sp>
    </p:spTree>
    <p:extLst>
      <p:ext uri="{BB962C8B-B14F-4D97-AF65-F5344CB8AC3E}">
        <p14:creationId xmlns:p14="http://schemas.microsoft.com/office/powerpoint/2010/main" val="324429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EB56F5B-8826-EC7D-61D6-8641B922B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4</a:t>
            </a:fld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08C456-8A7F-4B25-8D35-A737823788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6F6A75-8A8D-F60A-1124-E5DA27E15C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8187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F7831E9-DCB0-CB5F-AD31-F38E0A8B2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5</a:t>
            </a:fld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301966-72B4-C574-3DDE-A69C123E5C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982881-DCD2-A918-5875-01E9A41A0F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6966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B2FE7F6-8190-E229-70F8-E00B022B2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6</a:t>
            </a:fld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CF2526-F2DF-0F26-0208-44F602694E0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C72875-2D31-419C-7423-64C1D4C227D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20BFBAE-B989-FEF2-B033-8E9DE570C3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0E6241-AB0C-A1CF-7086-466AC132BD4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458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95D27-DE49-0F38-468A-C5104446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42E1B3E-3E36-CC96-46EC-19BEED0E60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4813" y="6356351"/>
            <a:ext cx="3281982" cy="365125"/>
          </a:xfrm>
        </p:spPr>
        <p:txBody>
          <a:bodyPr/>
          <a:lstStyle/>
          <a:p>
            <a:fld id="{B6F15528-21DE-4FAA-801E-634DDDAF4B2B}" type="slidenum">
              <a:rPr lang="es-MX" smtClean="0"/>
              <a:t>7</a:t>
            </a:fld>
            <a:endParaRPr lang="es-MX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C038542-A760-68B1-09AE-369AABCC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3500"/>
              <a:t>Análisis de Entorno</a:t>
            </a:r>
            <a:endParaRPr lang="es-CO" sz="3500"/>
          </a:p>
        </p:txBody>
      </p:sp>
    </p:spTree>
    <p:extLst>
      <p:ext uri="{BB962C8B-B14F-4D97-AF65-F5344CB8AC3E}">
        <p14:creationId xmlns:p14="http://schemas.microsoft.com/office/powerpoint/2010/main" val="643910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FF4F9-F760-DB52-0452-A4024E366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MÉXICO</a:t>
            </a:r>
            <a:endParaRPr lang="es-CO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B30C87E-30DC-D4F0-5479-D6E842AEA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8</a:t>
            </a:fld>
            <a:endParaRPr lang="es-MX"/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D5AC5542-4AA4-0BAE-B30F-152908243B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18088" y="1111206"/>
            <a:ext cx="5954712" cy="4702175"/>
          </a:xfrm>
        </p:spPr>
        <p:txBody>
          <a:bodyPr/>
          <a:lstStyle/>
          <a:p>
            <a:pPr marL="0" indent="0" algn="just">
              <a:lnSpc>
                <a:spcPct val="130000"/>
              </a:lnSpc>
              <a:buNone/>
            </a:pPr>
            <a:r>
              <a:rPr lang="es-MX" sz="1400" dirty="0">
                <a:latin typeface="Ballinger Mono Light" panose="00000400000000000000" pitchFamily="50" charset="0"/>
              </a:rPr>
              <a:t>México es la segunda economía más grande de América Latina y uno de los mercados emergentes más dinámicos a nivel global, caracterizado por su estabilidad macroeconómica, su creciente integración comercial y su ubicación estratégica como puente entre América del Norte y América Latina.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s-MX" sz="1400" dirty="0">
                <a:latin typeface="Ballinger Mono Light" panose="00000400000000000000" pitchFamily="50" charset="0"/>
              </a:rPr>
              <a:t>Con una población superior a los 130 millones de habitantes y un PIB diversificado en sectores como manufactura, energía, turismo y tecnología, el país ha consolidado su posición como un destino atractivo para la inversión nacional y extranjera. Su infraestructura en expansión, los múltiples tratados de libre comercio y un mercado interno robusto le otorgan una alta competitividad y capacidad para sostener el crecimiento económico a largo plazo.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88D81864-E32C-B21B-FB04-3887AD8CCA83}"/>
              </a:ext>
            </a:extLst>
          </p:cNvPr>
          <p:cNvGrpSpPr/>
          <p:nvPr/>
        </p:nvGrpSpPr>
        <p:grpSpPr>
          <a:xfrm>
            <a:off x="0" y="1"/>
            <a:ext cx="4532671" cy="5879690"/>
            <a:chOff x="0" y="0"/>
            <a:chExt cx="1183726" cy="1593725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676D2120-230C-9B9A-406F-26D134EB5D40}"/>
                </a:ext>
              </a:extLst>
            </p:cNvPr>
            <p:cNvSpPr/>
            <p:nvPr/>
          </p:nvSpPr>
          <p:spPr>
            <a:xfrm>
              <a:off x="0" y="0"/>
              <a:ext cx="1183726" cy="1593725"/>
            </a:xfrm>
            <a:custGeom>
              <a:avLst/>
              <a:gdLst/>
              <a:ahLst/>
              <a:cxnLst/>
              <a:rect l="l" t="t" r="r" b="b"/>
              <a:pathLst>
                <a:path w="1183726" h="1593725">
                  <a:moveTo>
                    <a:pt x="0" y="0"/>
                  </a:moveTo>
                  <a:lnTo>
                    <a:pt x="1183726" y="0"/>
                  </a:lnTo>
                  <a:lnTo>
                    <a:pt x="118372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057" r="-82645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643864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FF768FC-0F29-2B1A-03BD-B187A0165C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9</a:t>
            </a:fld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93DF47-5366-1ADE-498E-B13C696316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</a:t>
            </a:r>
            <a:r>
              <a:rPr lang="es-MX"/>
              <a:t> DATOS GENERALES&gt;</a:t>
            </a:r>
            <a:endParaRPr lang="es-CO"/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062FB87A-F149-1848-0B15-2898B4392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9225" y="1381125"/>
            <a:ext cx="4859338" cy="479266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b="1" dirty="0">
                <a:latin typeface="Ballinger Mono Light" panose="00000400000000000000" pitchFamily="50" charset="0"/>
              </a:rPr>
              <a:t>División política: </a:t>
            </a: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dirty="0">
                <a:latin typeface="Ballinger Mono Light" panose="00000400000000000000" pitchFamily="50" charset="0"/>
              </a:rPr>
              <a:t>México está dividido en 32 entidades federativas, incluyendo 31 estados y la Ciudad de México, </a:t>
            </a:r>
            <a:r>
              <a:rPr lang="es-MX" sz="1400" dirty="0" err="1">
                <a:latin typeface="Ballinger Mono Light" panose="00000400000000000000" pitchFamily="50" charset="0"/>
              </a:rPr>
              <a:t>cápital</a:t>
            </a:r>
            <a:r>
              <a:rPr lang="es-MX" sz="1400" dirty="0">
                <a:latin typeface="Ballinger Mono Light" panose="00000400000000000000" pitchFamily="50" charset="0"/>
              </a:rPr>
              <a:t> de la república.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b="1" dirty="0">
                <a:latin typeface="Ballinger Mono Light" panose="00000400000000000000" pitchFamily="50" charset="0"/>
              </a:rPr>
              <a:t>Extensión:</a:t>
            </a:r>
            <a:r>
              <a:rPr lang="es-MX" sz="1400" dirty="0">
                <a:latin typeface="Ballinger Mono Light" panose="00000400000000000000" pitchFamily="50" charset="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dirty="0">
                <a:latin typeface="Ballinger Mono Light" panose="00000400000000000000" pitchFamily="50" charset="0"/>
              </a:rPr>
              <a:t>1,964,375 km² de superficie territorial (1,959,248 km² superficie continental y 5,127 km² superficie insular). Al añadir a esta superficie 3,149,920 km² de la Zona Económica Exclusiva de mar territorial, obtenemos como superficie total de México 5,114,295 km².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b="1" dirty="0">
                <a:latin typeface="Ballinger Mono Light" panose="00000400000000000000" pitchFamily="50" charset="0"/>
              </a:rPr>
              <a:t>PIB Total:</a:t>
            </a: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dirty="0">
                <a:latin typeface="Ballinger Mono Light" panose="00000400000000000000" pitchFamily="50" charset="0"/>
              </a:rPr>
              <a:t>1,848.13 (USD$ miles de millones).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b="1" dirty="0" err="1">
                <a:latin typeface="Ballinger Mono Light" panose="00000400000000000000" pitchFamily="50" charset="0"/>
              </a:rPr>
              <a:t>Indice</a:t>
            </a:r>
            <a:r>
              <a:rPr lang="es-MX" sz="1400" b="1" dirty="0">
                <a:latin typeface="Ballinger Mono Light" panose="00000400000000000000" pitchFamily="50" charset="0"/>
              </a:rPr>
              <a:t> de inflación nacional:</a:t>
            </a: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s-MX" sz="1400" dirty="0">
                <a:latin typeface="Ballinger Mono Light" panose="00000400000000000000" pitchFamily="50" charset="0"/>
              </a:rPr>
              <a:t>4.32% a junio de 2025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s-CO" sz="1400" dirty="0">
              <a:latin typeface="Ballinger Mono Light" panose="00000400000000000000" pitchFamily="50" charset="0"/>
            </a:endParaRPr>
          </a:p>
        </p:txBody>
      </p:sp>
      <p:pic>
        <p:nvPicPr>
          <p:cNvPr id="2052" name="Picture 4" descr="15.400+ Mapa Mexico Fotografías de stock, fotos e imágenes libres de  derechos - iStock">
            <a:extLst>
              <a:ext uri="{FF2B5EF4-FFF2-40B4-BE49-F238E27FC236}">
                <a16:creationId xmlns:a16="http://schemas.microsoft.com/office/drawing/2014/main" id="{29A7F98E-C320-674E-3C57-3C6582A68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24" y="1654149"/>
            <a:ext cx="5407820" cy="424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094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17BB6C9-AC62-6201-D301-FE522E0B0A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10</a:t>
            </a:fld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D22E09-92D9-F943-1333-7A005E363F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DEMOGRAFÍA | HISTÓRICO POBLACIÓN&gt; </a:t>
            </a:r>
            <a:r>
              <a:rPr lang="es-MX"/>
              <a:t> 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7F8A83-AC4C-F486-AA64-970F2D9203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/>
            <a:r>
              <a:rPr lang="es-MX" sz="1400" dirty="0"/>
              <a:t>El tamaño y crecimiento poblacional de México aseguran una base de demanda amplia y sostenida, reduciendo el riesgo de absorción para nuevos desarrollos.</a:t>
            </a:r>
            <a:endParaRPr lang="es-CO" sz="1400" dirty="0"/>
          </a:p>
        </p:txBody>
      </p:sp>
      <p:pic>
        <p:nvPicPr>
          <p:cNvPr id="8" name="Marcador de contenido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00BE00C9-EB34-FFD9-8C6E-04D4EA6BAAF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47" y="2135979"/>
            <a:ext cx="7155681" cy="3006908"/>
          </a:xfr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A3A08B-44DE-82AF-809D-7490AF98D4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54528" y="2345029"/>
            <a:ext cx="4209618" cy="2588808"/>
          </a:xfrm>
        </p:spPr>
        <p:txBody>
          <a:bodyPr/>
          <a:lstStyle/>
          <a:p>
            <a:pPr algn="just"/>
            <a:r>
              <a:rPr lang="es-MX" sz="1400" dirty="0"/>
              <a:t>La población de México presenta una tendencia de crecimiento sostenido en el largo plazo, reflejando una base demográfica amplia que respalda la expansión del mercado interno y el consumo. </a:t>
            </a:r>
          </a:p>
          <a:p>
            <a:pPr algn="just"/>
            <a:r>
              <a:rPr lang="es-MX" sz="1400" dirty="0"/>
              <a:t>Aunque el ritmo de crecimiento se ha moderado en los últimos años, el tamaño poblacional continúa siendo un factor estructural clave para el desarrollo económico y la demanda de nuevos proyectos.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121754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84F98C8-39AC-E00E-A841-6EE64C75A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11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F2A7B8-0E97-E6E6-D2B2-988EF5F688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439043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/>
              <a:t>La alta concentración urbana dirige la demanda hacia ciudades y zonas metropolitanas, donde los proyectos inmobiliarios tienen mayor viabilidad y profundidad de mercado.</a:t>
            </a:r>
            <a:endParaRPr lang="es-CO" sz="1400" dirty="0"/>
          </a:p>
        </p:txBody>
      </p:sp>
      <p:pic>
        <p:nvPicPr>
          <p:cNvPr id="9" name="Marcador de contenido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A0DE3C46-BE7F-899E-D287-58A6D9C0036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24" y="1940265"/>
            <a:ext cx="6009465" cy="1980000"/>
          </a:xfrm>
        </p:spPr>
      </p:pic>
      <p:pic>
        <p:nvPicPr>
          <p:cNvPr id="11" name="Marcador de contenido 10" descr="Gráfico, Gráfico de barras, Gráfico en cascada&#10;&#10;El contenido generado por IA puede ser incorrecto.">
            <a:extLst>
              <a:ext uri="{FF2B5EF4-FFF2-40B4-BE49-F238E27FC236}">
                <a16:creationId xmlns:a16="http://schemas.microsoft.com/office/drawing/2014/main" id="{687CEA6D-DEE2-B611-0EDE-9BC68F61E42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24" y="3920265"/>
            <a:ext cx="5903810" cy="1980000"/>
          </a:xfrm>
        </p:spPr>
      </p:pic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5EBFE65-521F-E55C-9612-56D2281B1E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 dirty="0"/>
              <a:t>&lt;MÉXICO </a:t>
            </a:r>
            <a:r>
              <a:rPr lang="en-US" dirty="0">
                <a:latin typeface="Ballinger Mono Bold" panose="00000800000000000000"/>
              </a:rPr>
              <a:t>| DEMOGRAFÍA | DISTRIBUCIÓN POBLACIÓN&gt; </a:t>
            </a:r>
            <a:r>
              <a:rPr lang="es-MX" dirty="0"/>
              <a:t> 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B28148-8E7A-B7FD-9298-3477B7A40D69}"/>
              </a:ext>
            </a:extLst>
          </p:cNvPr>
          <p:cNvSpPr txBox="1"/>
          <p:nvPr/>
        </p:nvSpPr>
        <p:spPr>
          <a:xfrm>
            <a:off x="6723928" y="2778028"/>
            <a:ext cx="46958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La distribución poblacional evidencia una alta concentración en zonas urbanas, lo que refuerza la relevancia de las principales áreas metropolitanas como polos de actividad económica, empleo y servicios.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Esta concentración favorece el desarrollo de proyectos inmobiliarios y comerciales con enfoque urbano.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002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45654-0685-08DD-FFBF-ACEF4B55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467AE38-AF84-426C-82E9-D2800AB59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12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7AEB43-B9B6-4897-B48A-2197BFEE7F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397749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/>
              <a:t>Una elevada población económicamente activa respalda el poder adquisitivo y la estabilidad del consumo, clave para la sostenibilidad del proyecto en el tiempo.</a:t>
            </a:r>
            <a:endParaRPr lang="es-CO" sz="1400" dirty="0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1834CC8D-23DF-881B-A554-DD082BAAF5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DEMOGRAFÍA | POBLACIÓN ECONOMICAMENTE ACTIVA&gt;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12" name="Marcador de contenido 11" descr="Gráfico, Gráfico de barras, Histograma&#10;&#10;El contenido generado por IA puede ser incorrecto.">
            <a:extLst>
              <a:ext uri="{FF2B5EF4-FFF2-40B4-BE49-F238E27FC236}">
                <a16:creationId xmlns:a16="http://schemas.microsoft.com/office/drawing/2014/main" id="{72E3F3C6-9271-B8A9-7098-2E17D94210D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1"/>
          <a:stretch>
            <a:fillRect/>
          </a:stretch>
        </p:blipFill>
        <p:spPr>
          <a:xfrm>
            <a:off x="793073" y="1960676"/>
            <a:ext cx="5876577" cy="2433575"/>
          </a:xfrm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42059F1C-5B97-0B75-BF73-207866FB27E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0819" y="2949578"/>
            <a:ext cx="4393325" cy="2001087"/>
          </a:xfrm>
        </p:spPr>
        <p:txBody>
          <a:bodyPr/>
          <a:lstStyle/>
          <a:p>
            <a:pPr algn="just"/>
            <a:r>
              <a:rPr lang="es-MX" sz="1400" dirty="0"/>
              <a:t>La Población Económicamente Activa mantiene una participación significativa dentro del total de habitantes, lo que refleja una base laboral sólida. </a:t>
            </a:r>
          </a:p>
          <a:p>
            <a:pPr algn="just"/>
            <a:r>
              <a:rPr lang="es-MX" sz="1400" dirty="0"/>
              <a:t>Este comportamiento es indicativo de un mercado con capacidad productiva, generación de ingresos y potencial de consumo sostenido.</a:t>
            </a:r>
            <a:endParaRPr lang="es-CO" sz="1400" dirty="0"/>
          </a:p>
        </p:txBody>
      </p:sp>
      <p:pic>
        <p:nvPicPr>
          <p:cNvPr id="13" name="Marcador de contenido 4" descr="Gráfico&#10;&#10;El contenido generado por IA puede ser incorrecto.">
            <a:extLst>
              <a:ext uri="{FF2B5EF4-FFF2-40B4-BE49-F238E27FC236}">
                <a16:creationId xmlns:a16="http://schemas.microsoft.com/office/drawing/2014/main" id="{C6F891F6-C485-E015-3ACB-4C0471F98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 t="4894" r="5245" b="3706"/>
          <a:stretch>
            <a:fillRect/>
          </a:stretch>
        </p:blipFill>
        <p:spPr>
          <a:xfrm>
            <a:off x="793073" y="4310014"/>
            <a:ext cx="5808141" cy="188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17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A319C-6E67-7325-B4D4-39B04A78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A80DC55-110B-1289-11F5-E5E33EEB2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13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C5F8EF-D3B0-439C-7702-30431C2F1C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3" y="1228138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El crecimiento del PIB y del ingreso per cápita mejora la capacidad de pago del mercado objetivo y habilita proyectos de mayor valor agregado.</a:t>
            </a:r>
          </a:p>
          <a:p>
            <a:pPr marL="0" indent="0"/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D759FEED-3EF4-2744-3CDA-F1107DA436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ECONOMÍA | PIB TOTAL Y PER CÁPITA&gt;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11" name="Marcador de contenido 10" descr="Gráfico&#10;&#10;El contenido generado por IA puede ser incorrecto.">
            <a:extLst>
              <a:ext uri="{FF2B5EF4-FFF2-40B4-BE49-F238E27FC236}">
                <a16:creationId xmlns:a16="http://schemas.microsoft.com/office/drawing/2014/main" id="{D307B603-9D40-3E0D-D12F-58E4B6B0159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64" y="2072219"/>
            <a:ext cx="5724880" cy="2027832"/>
          </a:xfrm>
        </p:spPr>
      </p:pic>
      <p:pic>
        <p:nvPicPr>
          <p:cNvPr id="9" name="Marcador de contenido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E3450E31-3256-09BE-B583-6CF1226CBC4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083" y="2072218"/>
            <a:ext cx="5705541" cy="2027833"/>
          </a:xfr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11F543E-BCB4-576A-D7E9-5BFA92735BA5}"/>
              </a:ext>
            </a:extLst>
          </p:cNvPr>
          <p:cNvSpPr txBox="1"/>
          <p:nvPr/>
        </p:nvSpPr>
        <p:spPr>
          <a:xfrm>
            <a:off x="591343" y="4489537"/>
            <a:ext cx="109727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El crecimiento del PIB total, junto con la evolución positiva del PIB per cápita, evidencia un fortalecimiento gradual de la economía mexicana.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Esto sugiere mejoras en el ingreso promedio y un entorno favorable para inversiones orientadas a segmentos de demanda media y media-alta.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426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DB33D-22C0-49CB-23E3-F85018B0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9C462D5-0327-C54A-A503-2DC4CD73F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14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5AB74F-7FC1-8584-9F59-9F34095633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256488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Las proyecciones positivas del PIB reducen la incertidumbre macroeconómica y respaldan decisiones de inversión con horizontes de mediano y largo plazo.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D04C47C-4A8C-850D-0584-4D85581A29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ECONOMÍA | PROYECCIÓN PIB&gt;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14" name="Marcador de contenido 1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D33AF32-049D-629D-035A-05B47C9118A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00" y="2211639"/>
            <a:ext cx="6174205" cy="1759851"/>
          </a:xfrm>
        </p:spPr>
      </p:pic>
      <p:pic>
        <p:nvPicPr>
          <p:cNvPr id="12" name="Marcador de contenido 11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3204F122-A5C0-B759-A985-649754267D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61" y="4064922"/>
            <a:ext cx="6172344" cy="1771485"/>
          </a:xfr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EBDDB22-8A2A-E705-1C36-8D435AA92D39}"/>
              </a:ext>
            </a:extLst>
          </p:cNvPr>
          <p:cNvSpPr txBox="1"/>
          <p:nvPr/>
        </p:nvSpPr>
        <p:spPr>
          <a:xfrm>
            <a:off x="6537157" y="2494162"/>
            <a:ext cx="50269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Las proyecciones de PIB muestran una expectativa de crecimiento estable en el mediano plazo, sustentada en la diversificación productiva y la integración comercial del país. </a:t>
            </a:r>
          </a:p>
          <a:p>
            <a:pPr algn="just"/>
            <a:endParaRPr lang="es-MX" sz="1400" dirty="0">
              <a:latin typeface="Ballinger Mono Light" panose="00000400000000000000" pitchFamily="50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Este escenario brinda certidumbre para la planeación de proyectos con horizontes de inversión de largo plazo.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188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DA33-0682-6D7D-E4AD-7BF9D1E44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9481400-CAB8-E443-0254-F23B734BC8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15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2CB6B8-54DB-2E5B-3B5F-7FB545441F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188084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/>
              <a:t>Una inflación controlada permite proyectar costos, precios y retornos con mayor certidumbre financiera.</a:t>
            </a:r>
            <a:endParaRPr lang="es-CO" sz="1400" dirty="0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A62478A0-AACE-E75B-56F3-FF171C4FB6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ECONOMÍA | ÍNDICE DE INFLACIÓN&gt;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13" name="Marcador de contenido 1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16D0C5E-9C92-D3C6-EAD1-8CFA2F40A37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42" y="2239865"/>
            <a:ext cx="7293333" cy="2398449"/>
          </a:xfrm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9CB4ADE-E2A8-5CA9-E746-5E4ABBD35B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91948" y="2239865"/>
            <a:ext cx="3472198" cy="2398449"/>
          </a:xfrm>
        </p:spPr>
        <p:txBody>
          <a:bodyPr/>
          <a:lstStyle/>
          <a:p>
            <a:pPr algn="just"/>
            <a:r>
              <a:rPr lang="es-MX" sz="1400" dirty="0"/>
              <a:t>El comportamiento de la inflación, aunque con episodios de volatilidad, se mantiene dentro de rangos manejables. </a:t>
            </a:r>
          </a:p>
          <a:p>
            <a:pPr algn="just"/>
            <a:r>
              <a:rPr lang="es-MX" sz="1400" dirty="0"/>
              <a:t>Esto refleja un entorno macroeconómico relativamente estable, clave para la evaluación de costos, precios y rentabilidad de nuevos desarrollos.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1105544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DB88-0100-665F-D86A-2D729F7BB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D584DD7-FCCC-6A27-A630-AC05BFA9C0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16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B9DB05-47D6-5458-0FC3-15630000A8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182805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La estabilidad relativa del tipo de cambio mitiga riesgos para inversiones con componentes dolarizados y mejora la previsibilidad financiera del proyecto.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101ABEFC-9631-9F18-DAB2-CCC9DD56DD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ECONOMÍA | TASA CAMBIARIA&gt;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11" name="Marcador de contenido 10" descr="Interfaz de usuario gráfica, Gráfico, Aplicación, Gráfico de líneas&#10;&#10;El contenido generado por IA puede ser incorrecto.">
            <a:extLst>
              <a:ext uri="{FF2B5EF4-FFF2-40B4-BE49-F238E27FC236}">
                <a16:creationId xmlns:a16="http://schemas.microsoft.com/office/drawing/2014/main" id="{D124B39A-A180-3866-DE32-61DC6495747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74" y="1987035"/>
            <a:ext cx="5340970" cy="1889650"/>
          </a:xfrm>
        </p:spPr>
      </p:pic>
      <p:pic>
        <p:nvPicPr>
          <p:cNvPr id="9" name="Marcador de contenido 8" descr="Interfaz de usuario gráfica, 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1F8845F2-ACB0-C936-1A15-E6C4D74B702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74" y="3956384"/>
            <a:ext cx="5661179" cy="2041999"/>
          </a:xfr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F2678E7-4D95-5BBF-23EB-8B49CC131E23}"/>
              </a:ext>
            </a:extLst>
          </p:cNvPr>
          <p:cNvSpPr txBox="1"/>
          <p:nvPr/>
        </p:nvSpPr>
        <p:spPr>
          <a:xfrm>
            <a:off x="6663771" y="2663722"/>
            <a:ext cx="49003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La evolución de la tasa de cambio muestra periodos de apreciación y depreciación propios de una economía abierta.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Esta dinámica representa tanto riesgos como oportunidades para la inversión, especialmente en proyectos con componentes de financiamiento o costos denominados en moneda extranjera.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728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BDB04-CA5C-3843-1DFC-6B7942B0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F6BE018-6675-7EBA-E219-C8D32FF56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17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335011-163B-0198-A221-DB28FD1A64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414215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Los flujos constantes de IED confirman la confianza de inversionistas internacionales en el país, validando el atractivo estructural del mercado.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B8560DA8-DB88-C703-87CC-856C2291D0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ECONOMÍA | FLUJO DE INVERSIÓN EXTRANJERA DIRECTA&gt;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5" name="Imagen 4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C1C0A444-7D7C-BB19-C3A2-EA7612359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6" b="7453"/>
          <a:stretch>
            <a:fillRect/>
          </a:stretch>
        </p:blipFill>
        <p:spPr>
          <a:xfrm>
            <a:off x="1431764" y="2024481"/>
            <a:ext cx="9291960" cy="2758027"/>
          </a:xfrm>
          <a:prstGeom prst="rect">
            <a:avLst/>
          </a:prstGeom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34F11F19-477A-95C8-5DB7-3F39969F677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1342" y="4782507"/>
            <a:ext cx="10972804" cy="1372487"/>
          </a:xfrm>
        </p:spPr>
        <p:txBody>
          <a:bodyPr/>
          <a:lstStyle/>
          <a:p>
            <a:pPr marL="285750" lvl="0" indent="-285750" algn="just" eaLnBrk="0" fontAlgn="base" hangingPunct="0">
              <a:spcBef>
                <a:spcPts val="400"/>
              </a:spcBef>
              <a:spcAft>
                <a:spcPts val="400"/>
              </a:spcAft>
            </a:pPr>
            <a:r>
              <a:rPr lang="es-CO" altLang="es-CO" sz="1400" dirty="0">
                <a:latin typeface="Ballinger Mono Light" panose="00000400000000000000" pitchFamily="50" charset="0"/>
              </a:rPr>
              <a:t>La IED se concentra en el corredor Norte–Bajo–Occidente, consistente con el impulso de </a:t>
            </a:r>
            <a:r>
              <a:rPr lang="es-CO" altLang="es-CO" sz="1400" dirty="0" err="1">
                <a:latin typeface="Ballinger Mono Light" panose="00000400000000000000" pitchFamily="50" charset="0"/>
              </a:rPr>
              <a:t>nearshoring</a:t>
            </a:r>
            <a:r>
              <a:rPr lang="es-CO" altLang="es-CO" sz="1400" dirty="0">
                <a:latin typeface="Ballinger Mono Light" panose="00000400000000000000" pitchFamily="50" charset="0"/>
              </a:rPr>
              <a:t> y manufactura exportadora  de auto/</a:t>
            </a:r>
            <a:r>
              <a:rPr lang="es-CO" altLang="es-CO" sz="1400" dirty="0" err="1">
                <a:latin typeface="Ballinger Mono Light" panose="00000400000000000000" pitchFamily="50" charset="0"/>
              </a:rPr>
              <a:t>auto-partes</a:t>
            </a:r>
            <a:r>
              <a:rPr lang="es-CO" altLang="es-CO" sz="1400" dirty="0">
                <a:latin typeface="Ballinger Mono Light" panose="00000400000000000000" pitchFamily="50" charset="0"/>
              </a:rPr>
              <a:t>, aeroespacial, electrónica.</a:t>
            </a:r>
          </a:p>
          <a:p>
            <a:pPr marL="285750" lvl="0" indent="-285750" algn="just" eaLnBrk="0" fontAlgn="base" hangingPunct="0">
              <a:spcBef>
                <a:spcPts val="400"/>
              </a:spcBef>
              <a:spcAft>
                <a:spcPts val="400"/>
              </a:spcAft>
            </a:pPr>
            <a:r>
              <a:rPr lang="es-CO" altLang="es-CO" sz="1400" dirty="0">
                <a:latin typeface="Ballinger Mono Light" panose="00000400000000000000" pitchFamily="50" charset="0"/>
              </a:rPr>
              <a:t>Para 2025, factores críticos: disponibilidad de suelo industrial y energía, tiempos de habilitación, talento técnico y programas de encadenamiento local para capturar mayor derrama.</a:t>
            </a:r>
          </a:p>
        </p:txBody>
      </p:sp>
    </p:spTree>
    <p:extLst>
      <p:ext uri="{BB962C8B-B14F-4D97-AF65-F5344CB8AC3E}">
        <p14:creationId xmlns:p14="http://schemas.microsoft.com/office/powerpoint/2010/main" val="564269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DD416-5FE6-74BD-E7AB-E20EB65E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EA2137E-E8BE-49FD-86C0-176FDB61E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18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99E1E2-FBC5-5CB3-4EF5-5232B72EF8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233262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El volumen de anuncios de inversión anticipa mayor actividad económica futura, lo que impulsa empleo, demanda inmobiliaria y dinamismo urbano.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BDB77DDE-7404-D6D9-F80E-58D2DA38E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ECONOMÍA | ANUNCIOS DE INVERSIÓN&gt;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14" name="Marcador de contenido 13" descr="Gráfico, Gráfico de proyección solar&#10;&#10;El contenido generado por IA puede ser incorrecto.">
            <a:extLst>
              <a:ext uri="{FF2B5EF4-FFF2-40B4-BE49-F238E27FC236}">
                <a16:creationId xmlns:a16="http://schemas.microsoft.com/office/drawing/2014/main" id="{40C304AB-F33A-B058-1B20-1385CFB60341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7"/>
          <a:stretch>
            <a:fillRect/>
          </a:stretch>
        </p:blipFill>
        <p:spPr>
          <a:xfrm>
            <a:off x="590551" y="4083852"/>
            <a:ext cx="5391554" cy="1947384"/>
          </a:xfrm>
        </p:spPr>
      </p:pic>
      <p:pic>
        <p:nvPicPr>
          <p:cNvPr id="12" name="Marcador de contenido 1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338A983-5A74-995C-9379-19BD9B31BE7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1" y="2073988"/>
            <a:ext cx="6527495" cy="1917909"/>
          </a:xfr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310D46D-0DCC-1B92-5B7B-EE1068A95716}"/>
              </a:ext>
            </a:extLst>
          </p:cNvPr>
          <p:cNvSpPr txBox="1"/>
          <p:nvPr/>
        </p:nvSpPr>
        <p:spPr>
          <a:xfrm>
            <a:off x="7118046" y="2749220"/>
            <a:ext cx="44460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El volumen y la recurrencia de anuncios de inversión reflejan expectativas favorables sobre el desempeño futuro de la economía.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Estos anuncios anticipan mayor actividad productiva, generación de empleo y dinamismo en sectores estratégicos.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177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CD7B-F5BB-3592-C67C-035AC13B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7654A98-7150-636D-512F-973C7489CD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19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28CFC8-5663-E5A2-BEB5-C33DB54AF8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427765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El comportamiento del turismo muestra una recuperación y crecimiento progresivo, consolidando al sector como uno de los motores económicos del país.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3B56C26C-E778-1C64-D59F-2D9C853FF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TURISMO | SALIDA Y ENRADA DE TURISTAS&gt;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5" name="Imagen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5025A99D-6BE5-2521-DFD7-E78FE7219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281" y="3429000"/>
            <a:ext cx="5682137" cy="2520000"/>
          </a:xfrm>
          <a:prstGeom prst="rect">
            <a:avLst/>
          </a:prstGeom>
        </p:spPr>
      </p:pic>
      <p:pic>
        <p:nvPicPr>
          <p:cNvPr id="13" name="Marcador de contenido 1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7B8888CD-5701-428C-ED35-C07FDD79D04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44" y="3429000"/>
            <a:ext cx="5682137" cy="2520000"/>
          </a:xfr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4385956-5420-8B84-C037-180923128AFF}"/>
              </a:ext>
            </a:extLst>
          </p:cNvPr>
          <p:cNvSpPr/>
          <p:nvPr/>
        </p:nvSpPr>
        <p:spPr>
          <a:xfrm>
            <a:off x="3462676" y="2456544"/>
            <a:ext cx="2520000" cy="732025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latin typeface="Ballinger Mono Light" panose="00000400000000000000" pitchFamily="50" charset="0"/>
              </a:rPr>
              <a:t>Variación llegada de visitantes </a:t>
            </a:r>
          </a:p>
          <a:p>
            <a:pPr algn="ctr"/>
            <a:r>
              <a:rPr lang="es-MX" sz="1200">
                <a:latin typeface="Ballinger Mono Light" panose="00000400000000000000" pitchFamily="50" charset="0"/>
              </a:rPr>
              <a:t>2023 - 2024</a:t>
            </a:r>
          </a:p>
          <a:p>
            <a:pPr algn="ctr"/>
            <a:r>
              <a:rPr lang="es-MX" sz="1200" b="1">
                <a:latin typeface="Ballinger Mono Light" panose="00000400000000000000" pitchFamily="50" charset="0"/>
              </a:rPr>
              <a:t>15.5%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C2CA5F6-E378-94D3-89D8-0797564745B8}"/>
              </a:ext>
            </a:extLst>
          </p:cNvPr>
          <p:cNvSpPr/>
          <p:nvPr/>
        </p:nvSpPr>
        <p:spPr>
          <a:xfrm>
            <a:off x="582676" y="2456544"/>
            <a:ext cx="2520000" cy="732025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Ballinger Mono Light" panose="00000400000000000000" pitchFamily="50" charset="0"/>
              </a:rPr>
              <a:t>Llegada de visitantes a México en 2024</a:t>
            </a:r>
          </a:p>
          <a:p>
            <a:pPr algn="ctr"/>
            <a:r>
              <a:rPr lang="es-MX" sz="1200" b="1" dirty="0">
                <a:latin typeface="Ballinger Mono Light" panose="00000400000000000000" pitchFamily="50" charset="0"/>
              </a:rPr>
              <a:t>86,412,484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191B168-A180-7CD7-5345-46D7C46EDA05}"/>
              </a:ext>
            </a:extLst>
          </p:cNvPr>
          <p:cNvSpPr/>
          <p:nvPr/>
        </p:nvSpPr>
        <p:spPr>
          <a:xfrm>
            <a:off x="9279036" y="2451151"/>
            <a:ext cx="2520000" cy="732025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latin typeface="Ballinger Mono Light" panose="00000400000000000000" pitchFamily="50" charset="0"/>
              </a:rPr>
              <a:t>Variación salida de turistas 2023 - 2024</a:t>
            </a:r>
          </a:p>
          <a:p>
            <a:pPr algn="ctr"/>
            <a:r>
              <a:rPr lang="es-MX" sz="1200" b="1">
                <a:latin typeface="Ballinger Mono Light" panose="00000400000000000000" pitchFamily="50" charset="0"/>
              </a:rPr>
              <a:t>32.4%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2D2F1B7-99EF-6676-69B5-93AC5C99FA5D}"/>
              </a:ext>
            </a:extLst>
          </p:cNvPr>
          <p:cNvSpPr/>
          <p:nvPr/>
        </p:nvSpPr>
        <p:spPr>
          <a:xfrm>
            <a:off x="6399035" y="2462750"/>
            <a:ext cx="2520000" cy="732025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latin typeface="Ballinger Mono Light" panose="00000400000000000000" pitchFamily="50" charset="0"/>
              </a:rPr>
              <a:t>Salida de turistas al Exterior en 2024</a:t>
            </a:r>
          </a:p>
          <a:p>
            <a:pPr algn="ctr"/>
            <a:r>
              <a:rPr lang="es-MX" sz="1200" b="1">
                <a:latin typeface="Ballinger Mono Light" panose="00000400000000000000" pitchFamily="50" charset="0"/>
              </a:rPr>
              <a:t>68,889,918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3CAEAA8-269F-70FB-A995-2FEEBFBB89D3}"/>
              </a:ext>
            </a:extLst>
          </p:cNvPr>
          <p:cNvSpPr/>
          <p:nvPr/>
        </p:nvSpPr>
        <p:spPr>
          <a:xfrm>
            <a:off x="582675" y="2050076"/>
            <a:ext cx="5400001" cy="3276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>
                <a:latin typeface="Ballinger Mono Light" panose="00000400000000000000" pitchFamily="50" charset="0"/>
              </a:rPr>
              <a:t>INGRESOS</a:t>
            </a:r>
            <a:endParaRPr lang="es-MX" sz="1400" b="1">
              <a:latin typeface="Ballinger Mono Light" panose="00000400000000000000" pitchFamily="50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5A04690-6179-1C01-4775-999AC1EF638C}"/>
              </a:ext>
            </a:extLst>
          </p:cNvPr>
          <p:cNvSpPr/>
          <p:nvPr/>
        </p:nvSpPr>
        <p:spPr>
          <a:xfrm>
            <a:off x="6399035" y="2050072"/>
            <a:ext cx="5400001" cy="3276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>
                <a:latin typeface="Ballinger Mono Light" panose="00000400000000000000" pitchFamily="50" charset="0"/>
              </a:rPr>
              <a:t>EGRESOS</a:t>
            </a:r>
            <a:endParaRPr lang="es-MX" sz="1400" b="1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57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F97E8-607B-6C36-D4D3-C96988C5B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08736AC-CF0E-58B5-31FA-60274D11F0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20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CCFD28-3588-85C1-6795-C57F2158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6" y="1259440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/>
              <a:t>La conectividad aérea evidencia una red amplia y en expansión, facilitando la movilidad nacional e internacional.</a:t>
            </a:r>
            <a:endParaRPr lang="es-CO" sz="1400" dirty="0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C87EDCFA-29B8-EDCB-9240-6F9D5D0C2C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TURISMO | CONECTIVIDAD AEREA&gt; </a:t>
            </a:r>
            <a:r>
              <a:rPr lang="es-MX"/>
              <a:t> </a:t>
            </a:r>
            <a:endParaRPr lang="es-C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E83C1FF-FDD0-A2E0-9735-019086E17B7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8700" y="4643551"/>
            <a:ext cx="5265446" cy="1493769"/>
          </a:xfrm>
        </p:spPr>
        <p:txBody>
          <a:bodyPr/>
          <a:lstStyle/>
          <a:p>
            <a:pPr algn="just"/>
            <a:r>
              <a:rPr lang="es-MX" sz="1400" dirty="0"/>
              <a:t>El tráfico doméstico de 2025 crece a comparación del 2024; el mercado sigue dominado por las low-cost Viva </a:t>
            </a:r>
            <a:r>
              <a:rPr lang="es-MX" sz="1400" dirty="0" err="1"/>
              <a:t>Aerobus</a:t>
            </a:r>
            <a:r>
              <a:rPr lang="es-MX" sz="1400" dirty="0"/>
              <a:t> y Volaris, manteniendo Aeroméxico como tercer jugador.</a:t>
            </a:r>
            <a:endParaRPr lang="en-US" sz="1400" b="1" dirty="0">
              <a:solidFill>
                <a:srgbClr val="000000"/>
              </a:solidFill>
              <a:latin typeface="Aptos Light" panose="020B0004020202020204" pitchFamily="34" charset="0"/>
              <a:ea typeface="DIN Next Bold"/>
              <a:cs typeface="DIN Next Bold"/>
              <a:sym typeface="DIN Next Bold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E8414A5-A666-82E3-4BDD-E3D33308C638}"/>
              </a:ext>
            </a:extLst>
          </p:cNvPr>
          <p:cNvGrpSpPr/>
          <p:nvPr/>
        </p:nvGrpSpPr>
        <p:grpSpPr>
          <a:xfrm>
            <a:off x="960713" y="2079445"/>
            <a:ext cx="3862136" cy="2394232"/>
            <a:chOff x="-1300480" y="2383748"/>
            <a:chExt cx="4989495" cy="3076504"/>
          </a:xfrm>
        </p:grpSpPr>
        <p:pic>
          <p:nvPicPr>
            <p:cNvPr id="10" name="Imagen 9" descr="Gráfico, Gráfico circular&#10;&#10;El contenido generado por IA puede ser incorrecto.">
              <a:extLst>
                <a:ext uri="{FF2B5EF4-FFF2-40B4-BE49-F238E27FC236}">
                  <a16:creationId xmlns:a16="http://schemas.microsoft.com/office/drawing/2014/main" id="{B000A72C-F295-F24A-2104-48E842272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63" r="37889" b="10881"/>
            <a:stretch>
              <a:fillRect/>
            </a:stretch>
          </p:blipFill>
          <p:spPr>
            <a:xfrm>
              <a:off x="-1300480" y="2383748"/>
              <a:ext cx="4989495" cy="3076504"/>
            </a:xfrm>
            <a:prstGeom prst="rect">
              <a:avLst/>
            </a:prstGeom>
          </p:spPr>
        </p:pic>
        <p:pic>
          <p:nvPicPr>
            <p:cNvPr id="8" name="Imagen 7" descr="Gráfico, Gráfico circular&#10;&#10;El contenido generado por IA puede ser incorrecto.">
              <a:extLst>
                <a:ext uri="{FF2B5EF4-FFF2-40B4-BE49-F238E27FC236}">
                  <a16:creationId xmlns:a16="http://schemas.microsoft.com/office/drawing/2014/main" id="{86F8D010-AC54-4CD4-B6B3-EEA363016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784" t="36202" r="1693" b="33926"/>
            <a:stretch>
              <a:fillRect/>
            </a:stretch>
          </p:blipFill>
          <p:spPr>
            <a:xfrm>
              <a:off x="-1168400" y="4056194"/>
              <a:ext cx="1168400" cy="790617"/>
            </a:xfrm>
            <a:prstGeom prst="rect">
              <a:avLst/>
            </a:prstGeom>
          </p:spPr>
        </p:pic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BC1F3AD0-5923-4146-52E2-67205BD6FADE}"/>
              </a:ext>
            </a:extLst>
          </p:cNvPr>
          <p:cNvGrpSpPr/>
          <p:nvPr/>
        </p:nvGrpSpPr>
        <p:grpSpPr>
          <a:xfrm>
            <a:off x="7332641" y="2079444"/>
            <a:ext cx="3287212" cy="2520335"/>
            <a:chOff x="5856788" y="1953342"/>
            <a:chExt cx="3917131" cy="2997324"/>
          </a:xfrm>
        </p:grpSpPr>
        <p:pic>
          <p:nvPicPr>
            <p:cNvPr id="9" name="Imagen 8" descr="Gráfico, Gráfico circular&#10;&#10;El contenido generado por IA puede ser incorrecto.">
              <a:extLst>
                <a:ext uri="{FF2B5EF4-FFF2-40B4-BE49-F238E27FC236}">
                  <a16:creationId xmlns:a16="http://schemas.microsoft.com/office/drawing/2014/main" id="{9E91E34F-BC7B-1B99-EC08-23C8867DF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62" r="36362" b="6059"/>
            <a:stretch>
              <a:fillRect/>
            </a:stretch>
          </p:blipFill>
          <p:spPr>
            <a:xfrm>
              <a:off x="5856788" y="1953342"/>
              <a:ext cx="3917131" cy="2997324"/>
            </a:xfrm>
            <a:prstGeom prst="rect">
              <a:avLst/>
            </a:prstGeom>
          </p:spPr>
        </p:pic>
        <p:pic>
          <p:nvPicPr>
            <p:cNvPr id="12" name="Imagen 11" descr="Gráfico, Gráfico circular&#10;&#10;El contenido generado por IA puede ser incorrecto.">
              <a:extLst>
                <a:ext uri="{FF2B5EF4-FFF2-40B4-BE49-F238E27FC236}">
                  <a16:creationId xmlns:a16="http://schemas.microsoft.com/office/drawing/2014/main" id="{ACBFDD83-248D-ED21-C13B-6CA39CD98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256" t="26030" b="46585"/>
            <a:stretch>
              <a:fillRect/>
            </a:stretch>
          </p:blipFill>
          <p:spPr>
            <a:xfrm>
              <a:off x="8250213" y="4135242"/>
              <a:ext cx="1523706" cy="614679"/>
            </a:xfrm>
            <a:prstGeom prst="rect">
              <a:avLst/>
            </a:prstGeom>
          </p:spPr>
        </p:pic>
      </p:grp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F9FB5E20-4CC6-3AC6-2D12-7B9FDEA767F2}"/>
              </a:ext>
            </a:extLst>
          </p:cNvPr>
          <p:cNvSpPr txBox="1">
            <a:spLocks/>
          </p:cNvSpPr>
          <p:nvPr/>
        </p:nvSpPr>
        <p:spPr>
          <a:xfrm>
            <a:off x="591342" y="4639671"/>
            <a:ext cx="5265446" cy="1493769"/>
          </a:xfrm>
          <a:prstGeom prst="rect">
            <a:avLst/>
          </a:prstGeom>
        </p:spPr>
        <p:txBody>
          <a:bodyPr/>
          <a:lstStyle>
            <a:lvl1pPr marL="227914" indent="-227914" algn="l" defTabSz="911657" rtl="0" eaLnBrk="1" latinLnBrk="0" hangingPunct="1">
              <a:lnSpc>
                <a:spcPct val="90000"/>
              </a:lnSpc>
              <a:spcBef>
                <a:spcPts val="997"/>
              </a:spcBef>
              <a:buFont typeface="Arial" panose="020B0604020202020204" pitchFamily="34" charset="0"/>
              <a:buChar char="•"/>
              <a:defRPr sz="1595" b="0" i="0" kern="1200">
                <a:solidFill>
                  <a:schemeClr val="tx1"/>
                </a:solidFill>
                <a:latin typeface="Ballinger Mono Light" pitchFamily="2" charset="77"/>
                <a:ea typeface="+mn-ea"/>
                <a:cs typeface="+mn-cs"/>
              </a:defRPr>
            </a:lvl1pPr>
            <a:lvl2pPr marL="683743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396" b="0" i="0" kern="1200">
                <a:solidFill>
                  <a:schemeClr val="tx1"/>
                </a:solidFill>
                <a:latin typeface="Ballinger Mono Light" pitchFamily="2" charset="77"/>
                <a:ea typeface="+mn-ea"/>
                <a:cs typeface="+mn-cs"/>
              </a:defRPr>
            </a:lvl2pPr>
            <a:lvl3pPr marL="1139571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196" b="0" i="0" kern="1200">
                <a:solidFill>
                  <a:schemeClr val="tx1"/>
                </a:solidFill>
                <a:latin typeface="Ballinger Mono Light" pitchFamily="2" charset="77"/>
                <a:ea typeface="+mn-ea"/>
                <a:cs typeface="+mn-cs"/>
              </a:defRPr>
            </a:lvl3pPr>
            <a:lvl4pPr marL="1595399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097" b="0" i="0" kern="1200">
                <a:solidFill>
                  <a:schemeClr val="tx1"/>
                </a:solidFill>
                <a:latin typeface="Ballinger Mono Light" pitchFamily="2" charset="77"/>
                <a:ea typeface="+mn-ea"/>
                <a:cs typeface="+mn-cs"/>
              </a:defRPr>
            </a:lvl4pPr>
            <a:lvl5pPr marL="2051228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097" b="0" i="0" kern="1200">
                <a:solidFill>
                  <a:schemeClr val="tx1"/>
                </a:solidFill>
                <a:latin typeface="Ballinger Mono Light" pitchFamily="2" charset="77"/>
                <a:ea typeface="+mn-ea"/>
                <a:cs typeface="+mn-cs"/>
              </a:defRPr>
            </a:lvl5pPr>
            <a:lvl6pPr marL="2507056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2885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713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4541" indent="-227914" algn="l" defTabSz="9116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dirty="0"/>
              <a:t>En el tráfico internacional de 2025 las aerolíneas estadounidenses lideran el flujo, mientras las mexicanas ganan tracción en rutas a EE. UU. y el resto (Europa, Canadá y C/Sudamérica) mantiene aportes estables; Asia sigue incipiente. Y crece a comparación de 2024</a:t>
            </a:r>
            <a:endParaRPr lang="en-US" sz="1400" b="1" dirty="0">
              <a:solidFill>
                <a:srgbClr val="000000"/>
              </a:solidFill>
              <a:latin typeface="Aptos Light" panose="020B0004020202020204" pitchFamily="34" charset="0"/>
              <a:ea typeface="DIN Next Bold"/>
              <a:cs typeface="DIN Next Bold"/>
              <a:sym typeface="DIN Next Bold"/>
            </a:endParaRPr>
          </a:p>
        </p:txBody>
      </p:sp>
    </p:spTree>
    <p:extLst>
      <p:ext uri="{BB962C8B-B14F-4D97-AF65-F5344CB8AC3E}">
        <p14:creationId xmlns:p14="http://schemas.microsoft.com/office/powerpoint/2010/main" val="3827884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D857-A4AB-271A-31A8-3D83298A2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E0050B3-51FC-7FE7-4B01-3D65AA2BA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21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1F135D-7C67-09E0-D217-0827627D33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271183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En los últimos años, México a presentado una ocupación hotelera anual promedio de 53% % lo que demuestra un flujo turístico constante y que la industria está generando ingresos relevantes.</a:t>
            </a:r>
          </a:p>
          <a:p>
            <a:pPr marL="0" indent="0"/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2BA50C32-92C3-5FB8-C10B-444DE0FE51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&lt;MÉXICO </a:t>
            </a:r>
            <a:r>
              <a:rPr lang="en-US">
                <a:latin typeface="Ballinger Mono Bold" panose="00000800000000000000"/>
              </a:rPr>
              <a:t>| TURISMO | ACTIVIDAD HOTELERA&gt;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11" name="Marcador de contenido 10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7DF4295-AB26-CF20-AB88-348878C7B6D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44" y="4171770"/>
            <a:ext cx="6429216" cy="1800000"/>
          </a:xfrm>
        </p:spPr>
      </p:pic>
      <p:pic>
        <p:nvPicPr>
          <p:cNvPr id="14" name="Imagen 1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DDE74D48-FB07-9751-C428-6873028C3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44" y="2139553"/>
            <a:ext cx="6326999" cy="1800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301C3B8-749D-2C09-0753-562A453951CC}"/>
              </a:ext>
            </a:extLst>
          </p:cNvPr>
          <p:cNvSpPr txBox="1"/>
          <p:nvPr/>
        </p:nvSpPr>
        <p:spPr>
          <a:xfrm>
            <a:off x="7205431" y="2977681"/>
            <a:ext cx="43587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La actividad hotelera refleja niveles de ocupación y oferta consistentes con un mercado turístico activo.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Esto indica una demanda estructural que respalda la entrada de nuevos proyectos o la reconversión de usos inmobiliarios asociados al sector.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946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39C37-570C-2277-7099-BFEECB67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JALISCO</a:t>
            </a:r>
            <a:endParaRPr lang="es-CO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AA9BB33-6F4F-D26F-FC31-0D5E853478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22</a:t>
            </a:fld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7F68378-426C-EA25-DC20-39B7BBF556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18809" y="1101510"/>
            <a:ext cx="6612752" cy="470130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500"/>
              </a:spcBef>
            </a:pPr>
            <a:r>
              <a:rPr lang="es-MX" sz="1400" dirty="0">
                <a:latin typeface="Ballinger Mono Light" panose="00000400000000000000" pitchFamily="50" charset="0"/>
              </a:rPr>
              <a:t>Jalisco es uno de los estados más importantes y dinámicos de México, ubicado en la región occidente del país. Su capital es Guadalajara y concentra una de las economías estatales más fuertes a nivel nacional. Jalisco se distingue por su </a:t>
            </a:r>
            <a:r>
              <a:rPr lang="es-MX" sz="1400" b="1" dirty="0">
                <a:latin typeface="Ballinger Mono Light" panose="00000400000000000000" pitchFamily="50" charset="0"/>
              </a:rPr>
              <a:t>diversidad económica</a:t>
            </a:r>
            <a:r>
              <a:rPr lang="es-MX" sz="1400" dirty="0">
                <a:latin typeface="Ballinger Mono Light" panose="00000400000000000000" pitchFamily="50" charset="0"/>
              </a:rPr>
              <a:t>, combinando sectores tradicionales como la agroindustria y la manufactura con actividades de alto valor agregado como tecnología, innovación, servicios y economía creativa.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50000"/>
              </a:lnSpc>
              <a:spcBef>
                <a:spcPts val="500"/>
              </a:spcBef>
            </a:pPr>
            <a:r>
              <a:rPr lang="es-MX" sz="1400" dirty="0">
                <a:latin typeface="Ballinger Mono Light" panose="00000400000000000000" pitchFamily="50" charset="0"/>
              </a:rPr>
              <a:t>Además de su peso económico, Jalisco tiene una relevancia cultural clave en la identidad mexicana, al ser cuna de símbolos nacionales como el mariachi y el tequila. Cuenta con una infraestructura sólida, una ubicación estratégica y una alta concentración de talento, lo que lo posiciona como un estado altamente competitivo para la inversión, el desarrollo empresarial y el crecimiento urbano.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</a:pPr>
            <a:endParaRPr lang="es-CO" sz="1400" dirty="0">
              <a:latin typeface="Ballinger Mono Light" panose="00000400000000000000" pitchFamily="50" charset="0"/>
            </a:endParaRPr>
          </a:p>
        </p:txBody>
      </p:sp>
      <p:pic>
        <p:nvPicPr>
          <p:cNvPr id="6" name="Picture 2" descr="Lugares sagrados y religiosos en Jalisco - Tripadvisor">
            <a:extLst>
              <a:ext uri="{FF2B5EF4-FFF2-40B4-BE49-F238E27FC236}">
                <a16:creationId xmlns:a16="http://schemas.microsoft.com/office/drawing/2014/main" id="{4DD3965A-0598-E0AD-B2EA-DA42E488934F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9" r="12869"/>
          <a:stretch>
            <a:fillRect/>
          </a:stretch>
        </p:blipFill>
        <p:spPr bwMode="auto">
          <a:xfrm>
            <a:off x="0" y="0"/>
            <a:ext cx="4506913" cy="606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430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AAD73-8CF2-4461-C8FC-8A464AEF9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E6CB959-580B-3E80-C2BE-677E28263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23</a:t>
            </a:fld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6F0B10-F8FB-3857-7386-CFFD7EA09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MX"/>
              <a:t>&lt;JALISCO </a:t>
            </a:r>
            <a:r>
              <a:rPr lang="en-US">
                <a:latin typeface="Ballinger Mono Bold" panose="00000800000000000000"/>
              </a:rPr>
              <a:t>|</a:t>
            </a:r>
            <a:r>
              <a:rPr lang="es-MX"/>
              <a:t> DATOS GENERALES&gt;</a:t>
            </a:r>
            <a:endParaRPr lang="es-CO"/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A2BAF21-0BCE-AD0E-8C75-5DF847BEB8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9225" y="1381125"/>
            <a:ext cx="4748878" cy="479266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b="1" dirty="0">
                <a:latin typeface="Ballinger Mono Light" panose="00000400000000000000" pitchFamily="50" charset="0"/>
              </a:rPr>
              <a:t>División política: 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dirty="0">
                <a:latin typeface="Ballinger Mono Light" panose="00000400000000000000" pitchFamily="50" charset="0"/>
              </a:rPr>
              <a:t>Jalisco está dividido en 125 municipios. Su capital es Guadalajara, que además es el principal centro económico, político y administrativo del estado.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b="1" dirty="0">
                <a:latin typeface="Ballinger Mono Light" panose="00000400000000000000" pitchFamily="50" charset="0"/>
              </a:rPr>
              <a:t>Extensión:</a:t>
            </a:r>
            <a:r>
              <a:rPr lang="es-MX" sz="1400" dirty="0">
                <a:latin typeface="Ballinger Mono Light" panose="00000400000000000000" pitchFamily="50" charset="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dirty="0">
                <a:latin typeface="Ballinger Mono Light" panose="00000400000000000000" pitchFamily="50" charset="0"/>
              </a:rPr>
              <a:t>Jalisco cuenta con una superficie aproximada de 78,599 km², lo que representa cerca del 4% del territorio nacional, ubicándolo entre los estados con mayor extensión de México.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endParaRPr lang="es-MX" sz="1400" b="1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b="1" dirty="0">
                <a:latin typeface="Ballinger Mono Light" panose="00000400000000000000" pitchFamily="50" charset="0"/>
              </a:rPr>
              <a:t>PIB Total:</a:t>
            </a:r>
            <a:endParaRPr lang="es-MX" sz="1400" dirty="0">
              <a:latin typeface="Ballinger Mono Light" panose="00000400000000000000" pitchFamily="50" charset="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dirty="0">
                <a:latin typeface="Ballinger Mono Light" panose="00000400000000000000" pitchFamily="50" charset="0"/>
              </a:rPr>
              <a:t>Aproximadamente MXN $1,864,059.17M, posicionándolo de forma consistente entre las 4 economías estatales más grandes del país</a:t>
            </a:r>
          </a:p>
          <a:p>
            <a:pPr indent="0" algn="just">
              <a:lnSpc>
                <a:spcPct val="100000"/>
              </a:lnSpc>
              <a:spcBef>
                <a:spcPts val="400"/>
              </a:spcBef>
            </a:pPr>
            <a:endParaRPr lang="es-CO" sz="1400" dirty="0">
              <a:latin typeface="Ballinger Mono Light" panose="00000400000000000000" pitchFamily="50" charset="0"/>
            </a:endParaRPr>
          </a:p>
        </p:txBody>
      </p:sp>
      <p:pic>
        <p:nvPicPr>
          <p:cNvPr id="7" name="Imagen 6" descr="Mapa&#10;&#10;El contenido generado por IA puede ser incorrecto.">
            <a:extLst>
              <a:ext uri="{FF2B5EF4-FFF2-40B4-BE49-F238E27FC236}">
                <a16:creationId xmlns:a16="http://schemas.microsoft.com/office/drawing/2014/main" id="{5BF62F1F-0A17-6A46-63C9-56BD1F25E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23" y="1671484"/>
            <a:ext cx="5179001" cy="407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86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96A9D-24B8-5B0D-434C-85190D66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E00A882-E884-61A7-0988-A031A16E1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24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54ECC0-EEC2-41CC-1E56-A879AA9FAC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496069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El crecimiento poblacional proyectado en Jalisco garantiza demanda futura para vivienda, servicios y proyectos urbanos.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2D70CF4-A9D5-8F80-C97E-83055881DF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&lt;JALISCO </a:t>
            </a:r>
            <a:r>
              <a:rPr lang="en-US">
                <a:latin typeface="Ballinger Mono Bold" panose="00000800000000000000"/>
              </a:rPr>
              <a:t>| DEMOGRAFÍA | HISTÓRICO Y PROYECCIÓN POBLACIÓN&gt;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8" name="Marcador de contenido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05223E6-273D-E8D4-0750-81A029DBF98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44" y="4290398"/>
            <a:ext cx="6282073" cy="1800000"/>
          </a:xfrm>
        </p:spPr>
      </p:pic>
      <p:pic>
        <p:nvPicPr>
          <p:cNvPr id="10" name="Imagen 9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A7E4974-BDD7-71FF-99EB-DBB27BF4A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749" y="2248027"/>
            <a:ext cx="7833989" cy="1800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A44E035-0929-8747-60AB-0610B39B0FC9}"/>
              </a:ext>
            </a:extLst>
          </p:cNvPr>
          <p:cNvSpPr txBox="1"/>
          <p:nvPr/>
        </p:nvSpPr>
        <p:spPr>
          <a:xfrm>
            <a:off x="7058916" y="4048027"/>
            <a:ext cx="45244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Jalisco presenta un crecimiento poblacional constante, con proyecciones positivas que refuerzan su atractivo como uno de los principales mercados regionales del país.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La expansión demográfica sostiene la demanda futura de vivienda, servicios y equipamientos urbanos.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71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12D74-E0BD-43E2-86AC-4775DED4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BD27271-999A-8F01-61C0-FF96018607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25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DF861B-21C4-E520-5979-967E3DD405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376055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La diversificación económica del estado reduce el riesgo sectorial y fortalece la resiliencia del mercado ante ciclos económicos.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6EBA0D73-025D-2E24-8FE7-99CD174419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 dirty="0"/>
              <a:t>&lt;JALISCO </a:t>
            </a:r>
            <a:r>
              <a:rPr lang="en-US" dirty="0">
                <a:latin typeface="Ballinger Mono Bold" panose="00000800000000000000"/>
              </a:rPr>
              <a:t>| ECONOMÍA | INVERSIÓN Y SECTORES ECONÓMICOS&gt; </a:t>
            </a:r>
            <a:r>
              <a:rPr lang="es-MX" dirty="0"/>
              <a:t> </a:t>
            </a:r>
            <a:endParaRPr lang="es-CO" dirty="0"/>
          </a:p>
        </p:txBody>
      </p:sp>
      <p:pic>
        <p:nvPicPr>
          <p:cNvPr id="9" name="Marcador de contenido 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1D7BD25-9705-F146-21CF-77A04C11F62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673" y="2225488"/>
            <a:ext cx="6142279" cy="1734788"/>
          </a:xfrm>
        </p:spPr>
      </p:pic>
      <p:pic>
        <p:nvPicPr>
          <p:cNvPr id="12" name="Imagen 11" descr="Gráfico&#10;&#10;El contenido generado por IA puede ser incorrecto.">
            <a:extLst>
              <a:ext uri="{FF2B5EF4-FFF2-40B4-BE49-F238E27FC236}">
                <a16:creationId xmlns:a16="http://schemas.microsoft.com/office/drawing/2014/main" id="{32CC32F0-E9EF-E829-5E97-CF7D3F40F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2" r="7445" b="7678"/>
          <a:stretch>
            <a:fillRect/>
          </a:stretch>
        </p:blipFill>
        <p:spPr>
          <a:xfrm>
            <a:off x="1258531" y="2127166"/>
            <a:ext cx="3746090" cy="242517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9A481C6-953D-185A-8AC1-A3DE5881C441}"/>
              </a:ext>
            </a:extLst>
          </p:cNvPr>
          <p:cNvSpPr txBox="1"/>
          <p:nvPr/>
        </p:nvSpPr>
        <p:spPr>
          <a:xfrm>
            <a:off x="591344" y="4879750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La inversión en Jalisco se concentra en sectores diversificados y de alto valor agregado, lo que reduce riesgos económicos y fortalece la estabilidad del estado.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Esta diversificación posiciona a Jalisco como un entorno favorable para proyectos de largo plazo.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450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CC936-A571-3DDF-4138-B695DA21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9D3769-D3AF-29D7-233C-F2E1CD0B6D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26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631785-F229-3F48-6839-B6CA97F392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309546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La solidez del turismo en Jalisco respalda la viabilidad de proyectos vinculados a hospedaje, comercio y servicios complementarios.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D62D31DF-D98A-5DED-E9ED-2CAD52531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&lt;JALISCO </a:t>
            </a:r>
            <a:r>
              <a:rPr lang="en-US">
                <a:latin typeface="Ballinger Mono Bold" panose="00000800000000000000"/>
              </a:rPr>
              <a:t>| TURISMO | ACTIVIDAD HOTELERA&gt;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8" name="Marcador de contenido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5932FFE0-0BB9-DBE5-E4CE-8ED1FCF3883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15" y="2501210"/>
            <a:ext cx="5998625" cy="2860721"/>
          </a:xfr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8B1B8A1-8FDE-8268-0106-20DFA1B44151}"/>
              </a:ext>
            </a:extLst>
          </p:cNvPr>
          <p:cNvSpPr txBox="1"/>
          <p:nvPr/>
        </p:nvSpPr>
        <p:spPr>
          <a:xfrm>
            <a:off x="6607623" y="3054407"/>
            <a:ext cx="462185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La actividad hotelera en Jalisco confirma la relevancia del estado como destino turístico y de negocios.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>
              <a:latin typeface="Ballinger Mono Light" panose="00000400000000000000" pitchFamily="50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Ballinger Mono Light" panose="00000400000000000000" pitchFamily="50" charset="0"/>
              </a:rPr>
              <a:t>La demanda constante respalda la viabilidad de desarrollos vinculados a hospedaje, comercio y servicios complementarios.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06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C43E-642D-07D7-6291-B1EA8408D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889F5AE-4D5E-8C91-F3F0-FFDF3E8E6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27</a:t>
            </a:fld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F193D4-D767-027F-7691-5CE6298E5A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MX" dirty="0"/>
              <a:t>&lt;GUADALAJARA </a:t>
            </a:r>
            <a:r>
              <a:rPr lang="en-US" dirty="0">
                <a:latin typeface="Ballinger Mono Bold" panose="00000800000000000000"/>
              </a:rPr>
              <a:t>|</a:t>
            </a:r>
            <a:r>
              <a:rPr lang="es-MX" dirty="0"/>
              <a:t> DATOS GENERALES&gt;</a:t>
            </a:r>
            <a:endParaRPr lang="es-CO" dirty="0"/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C56C96A-6DCB-458E-B3F1-EF64CE010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9225" y="1381125"/>
            <a:ext cx="4859338" cy="479266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b="1" dirty="0">
                <a:latin typeface="Ballinger Mono Bold" panose="00000800000000000000"/>
              </a:rPr>
              <a:t>División política: </a:t>
            </a:r>
            <a:endParaRPr lang="es-MX" sz="1400" dirty="0">
              <a:latin typeface="Ballinger Mono Bold" panose="0000080000000000000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dirty="0"/>
              <a:t>Guadalajara es un municipio y la capital del estado de Jalisco. Forma parte de la Zona Metropolitana de Guadalajara, integrada por varios municipios y considerada la segunda área metropolitana más grande de México.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endParaRPr lang="es-MX" sz="1400" dirty="0">
              <a:latin typeface="Ballinger Mono Bold" panose="0000080000000000000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b="1" dirty="0">
                <a:latin typeface="Ballinger Mono Bold" panose="00000800000000000000"/>
              </a:rPr>
              <a:t>Extensión:</a:t>
            </a:r>
            <a:r>
              <a:rPr lang="es-MX" sz="1400" dirty="0">
                <a:latin typeface="Ballinger Mono Bold" panose="0000080000000000000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dirty="0"/>
              <a:t>El municipio de Guadalajara tiene una superficie aproximada de 151 km², siendo uno de los municipios más compactos pero con alta densidad poblacional y económica del país.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endParaRPr lang="es-MX" sz="1400" b="1" dirty="0">
              <a:latin typeface="Ballinger Mono Bold" panose="0000080000000000000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b="1" dirty="0">
                <a:latin typeface="Ballinger Mono Bold" panose="00000800000000000000"/>
              </a:rPr>
              <a:t>PIB Total:</a:t>
            </a:r>
            <a:endParaRPr lang="es-MX" sz="1400" dirty="0">
              <a:latin typeface="Ballinger Mono Bold" panose="00000800000000000000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s-MX" sz="1400" dirty="0">
                <a:latin typeface="Ballinger Mono Bold" panose="00000800000000000000"/>
              </a:rPr>
              <a:t>El PIB de Jalisco es de aproximadamente USD 110,000 millones (USD$ miles de millones)</a:t>
            </a:r>
          </a:p>
          <a:p>
            <a:pPr indent="0" algn="just">
              <a:lnSpc>
                <a:spcPct val="100000"/>
              </a:lnSpc>
              <a:spcBef>
                <a:spcPts val="400"/>
              </a:spcBef>
            </a:pPr>
            <a:endParaRPr lang="es-CO" sz="1400" dirty="0">
              <a:latin typeface="Ballinger Mono Bold" panose="0000080000000000000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BDF209-D179-B1BE-3454-25042F4AE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51" y="1610365"/>
            <a:ext cx="4334182" cy="433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315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99B19-61B8-B2F1-06CA-8FF7D502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1C13CC6-4A82-FB35-DCE0-7B0FD828F8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28</a:t>
            </a:fld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12EC3D-A0B2-9D91-7C07-B0C3BF686E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344" y="1434181"/>
            <a:ext cx="10972800" cy="509587"/>
          </a:xfrm>
        </p:spPr>
        <p:txBody>
          <a:bodyPr/>
          <a:lstStyle/>
          <a:p>
            <a:pPr marL="0" indent="0"/>
            <a:r>
              <a:rPr lang="es-MX" sz="1400" dirty="0">
                <a:latin typeface="Ballinger Mono Light" panose="00000400000000000000" pitchFamily="50" charset="0"/>
              </a:rPr>
              <a:t>La alta densidad y crecimiento poblacional de Guadalajara favorecen proyectos intensivos en suelo y con alto potencial de absorción.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1C571C-CFBF-334D-5662-B4A9DDBA7C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13" y="583859"/>
            <a:ext cx="9120836" cy="509587"/>
          </a:xfrm>
        </p:spPr>
        <p:txBody>
          <a:bodyPr/>
          <a:lstStyle/>
          <a:p>
            <a:r>
              <a:rPr lang="es-MX"/>
              <a:t>&lt;GUADALAJARA </a:t>
            </a:r>
            <a:r>
              <a:rPr lang="en-US">
                <a:latin typeface="Ballinger Mono Bold" panose="00000800000000000000"/>
              </a:rPr>
              <a:t>| DEMOGRAFÍA | POBLACIÓN Y PROYECCIÓN&gt; </a:t>
            </a:r>
            <a:r>
              <a:rPr lang="es-MX"/>
              <a:t> </a:t>
            </a:r>
            <a:endParaRPr lang="es-CO"/>
          </a:p>
        </p:txBody>
      </p:sp>
      <p:pic>
        <p:nvPicPr>
          <p:cNvPr id="9" name="Marcador de contenido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D675C44F-62FE-3BA1-7772-C7CD850A18C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744" y="2332345"/>
            <a:ext cx="5540249" cy="2520000"/>
          </a:xfrm>
        </p:spPr>
      </p:pic>
      <p:pic>
        <p:nvPicPr>
          <p:cNvPr id="11" name="Imagen 10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24983C79-7254-415F-902C-CFAFF18C7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713" y="2332345"/>
            <a:ext cx="4924646" cy="2520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02659B3-76E4-0E3C-FD1B-FDF6BF526054}"/>
              </a:ext>
            </a:extLst>
          </p:cNvPr>
          <p:cNvSpPr txBox="1"/>
          <p:nvPr/>
        </p:nvSpPr>
        <p:spPr>
          <a:xfrm>
            <a:off x="398959" y="5112892"/>
            <a:ext cx="10972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400" dirty="0">
                <a:latin typeface="Ballinger Mono Light" panose="00000400000000000000" pitchFamily="50" charset="0"/>
              </a:rPr>
              <a:t>Guadalajara mantiene una población creciente dentro de un territorio compacto, lo que genera alta densidad y dinamismo económico. Esta condición favorece proyectos con usos intensivos del suelo y propuestas de mayor valor agregado.</a:t>
            </a:r>
            <a:endParaRPr lang="es-CO" sz="1400" dirty="0">
              <a:latin typeface="Ballinger Mono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472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4A8D0-14A6-DEAC-34E4-66C08268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6B56FA9-9CAA-AD2E-BA2F-EC34C61A4A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4813" y="6356351"/>
            <a:ext cx="3281982" cy="365125"/>
          </a:xfrm>
        </p:spPr>
        <p:txBody>
          <a:bodyPr/>
          <a:lstStyle/>
          <a:p>
            <a:fld id="{B6F15528-21DE-4FAA-801E-634DDDAF4B2B}" type="slidenum">
              <a:rPr lang="es-MX" smtClean="0"/>
              <a:t>29</a:t>
            </a:fld>
            <a:endParaRPr lang="es-MX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F518AE6-3F18-BBE0-B3DE-171FA11E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3000" dirty="0"/>
              <a:t>Conclusiones y recomendaciones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766666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44F0AA5-519E-F46D-5B57-F9A918736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30</a:t>
            </a:fld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5FAB9F-99C6-2D7F-48FC-6B0DBBB21A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2A3007-B9C3-7A5C-A638-4D7A684C41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1D7CD2-5647-B744-2C61-A62293D573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0967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A2BA9A7-4C23-FEE6-31F4-0D34DCE05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9750326"/>
      </p:ext>
    </p:extLst>
  </p:cSld>
  <p:clrMapOvr>
    <a:masterClrMapping/>
  </p:clrMapOvr>
</p:sld>
</file>

<file path=ppt/theme/theme1.xml><?xml version="1.0" encoding="utf-8"?>
<a:theme xmlns:a="http://schemas.openxmlformats.org/drawingml/2006/main" name="PhiQus">
  <a:themeElements>
    <a:clrScheme name="Phiqus">
      <a:dk1>
        <a:srgbClr val="212121"/>
      </a:dk1>
      <a:lt1>
        <a:srgbClr val="FFFFFF"/>
      </a:lt1>
      <a:dk2>
        <a:srgbClr val="212121"/>
      </a:dk2>
      <a:lt2>
        <a:srgbClr val="FFFFFF"/>
      </a:lt2>
      <a:accent1>
        <a:srgbClr val="F178F2"/>
      </a:accent1>
      <a:accent2>
        <a:srgbClr val="F1F10B"/>
      </a:accent2>
      <a:accent3>
        <a:srgbClr val="0675F1"/>
      </a:accent3>
      <a:accent4>
        <a:srgbClr val="37F18A"/>
      </a:accent4>
      <a:accent5>
        <a:srgbClr val="F17806"/>
      </a:accent5>
      <a:accent6>
        <a:srgbClr val="FFFFFF"/>
      </a:accent6>
      <a:hlink>
        <a:srgbClr val="0675F1"/>
      </a:hlink>
      <a:folHlink>
        <a:srgbClr val="0A50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hiQus" id="{2895FE33-E680-B840-81D8-ADE7D7CD42BF}" vid="{773FE33B-C19A-B544-ABE9-DA563DCCDF44}"/>
    </a:ext>
  </a:extLst>
</a:theme>
</file>

<file path=ppt/theme/theme2.xml><?xml version="1.0" encoding="utf-8"?>
<a:theme xmlns:a="http://schemas.openxmlformats.org/drawingml/2006/main" name="1_PhiQus">
  <a:themeElements>
    <a:clrScheme name="Phiqus">
      <a:dk1>
        <a:srgbClr val="212121"/>
      </a:dk1>
      <a:lt1>
        <a:srgbClr val="FFFFFF"/>
      </a:lt1>
      <a:dk2>
        <a:srgbClr val="212121"/>
      </a:dk2>
      <a:lt2>
        <a:srgbClr val="FFFFFF"/>
      </a:lt2>
      <a:accent1>
        <a:srgbClr val="F178F2"/>
      </a:accent1>
      <a:accent2>
        <a:srgbClr val="F1F10B"/>
      </a:accent2>
      <a:accent3>
        <a:srgbClr val="0675F1"/>
      </a:accent3>
      <a:accent4>
        <a:srgbClr val="37F18A"/>
      </a:accent4>
      <a:accent5>
        <a:srgbClr val="F17806"/>
      </a:accent5>
      <a:accent6>
        <a:srgbClr val="FFFFFF"/>
      </a:accent6>
      <a:hlink>
        <a:srgbClr val="0675F1"/>
      </a:hlink>
      <a:folHlink>
        <a:srgbClr val="0A50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hiQus" id="{2895FE33-E680-B840-81D8-ADE7D7CD42BF}" vid="{773FE33B-C19A-B544-ABE9-DA563DCCDF44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dc2ee3-2ca2-4a1f-b368-8a1a97b9667b">
      <Terms xmlns="http://schemas.microsoft.com/office/infopath/2007/PartnerControls"/>
    </lcf76f155ced4ddcb4097134ff3c332f>
    <TaxCatchAll xmlns="8ba8a878-141d-4385-9956-1b01191344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067A457CB13343B8C57377F6516967" ma:contentTypeVersion="14" ma:contentTypeDescription="Crear nuevo documento." ma:contentTypeScope="" ma:versionID="4e30d30c751fdd129605f63034c99f40">
  <xsd:schema xmlns:xsd="http://www.w3.org/2001/XMLSchema" xmlns:xs="http://www.w3.org/2001/XMLSchema" xmlns:p="http://schemas.microsoft.com/office/2006/metadata/properties" xmlns:ns2="43dc2ee3-2ca2-4a1f-b368-8a1a97b9667b" xmlns:ns3="8ba8a878-141d-4385-9956-1b0119134405" targetNamespace="http://schemas.microsoft.com/office/2006/metadata/properties" ma:root="true" ma:fieldsID="e2c7c78e517b87be5c837555940150e6" ns2:_="" ns3:_="">
    <xsd:import namespace="43dc2ee3-2ca2-4a1f-b368-8a1a97b9667b"/>
    <xsd:import namespace="8ba8a878-141d-4385-9956-1b01191344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dc2ee3-2ca2-4a1f-b368-8a1a97b96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dea630c-c225-4870-8a6e-57ebad72ab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a8a878-141d-4385-9956-1b011913440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e1ddf26-f814-4f34-99fa-66001d4d79c8}" ma:internalName="TaxCatchAll" ma:showField="CatchAllData" ma:web="8ba8a878-141d-4385-9956-1b01191344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5395D0-9E2E-4ED3-9780-32768867312D}">
  <ds:schemaRefs>
    <ds:schemaRef ds:uri="43dc2ee3-2ca2-4a1f-b368-8a1a97b9667b"/>
    <ds:schemaRef ds:uri="8ba8a878-141d-4385-9956-1b01191344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FDBA78F-991B-4A16-AE9E-CAB82ED84C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B870B7-2E3B-41AD-9475-AB3405C3AD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dc2ee3-2ca2-4a1f-b368-8a1a97b9667b"/>
    <ds:schemaRef ds:uri="8ba8a878-141d-4385-9956-1b01191344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9bb3fff-8810-4b8f-b239-e072fbb62c42}" enabled="0" method="" siteId="{89bb3fff-8810-4b8f-b239-e072fbb62c4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PhiQus</Template>
  <TotalTime>74</TotalTime>
  <Words>1824</Words>
  <Application>Microsoft Office PowerPoint</Application>
  <PresentationFormat>Personalizado</PresentationFormat>
  <Paragraphs>152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32</vt:i4>
      </vt:variant>
    </vt:vector>
  </HeadingPairs>
  <TitlesOfParts>
    <vt:vector size="42" baseType="lpstr">
      <vt:lpstr>Aptos Light</vt:lpstr>
      <vt:lpstr>Arial</vt:lpstr>
      <vt:lpstr>Arial Black</vt:lpstr>
      <vt:lpstr>Ballinger Mono Bold</vt:lpstr>
      <vt:lpstr>Ballinger Mono Light</vt:lpstr>
      <vt:lpstr>Calibri</vt:lpstr>
      <vt:lpstr>DIN Arabic</vt:lpstr>
      <vt:lpstr>FSP DEMO - Ballinger Mono</vt:lpstr>
      <vt:lpstr>PhiQus</vt:lpstr>
      <vt:lpstr>1_PhiQus</vt:lpstr>
      <vt:lpstr>&lt;Estudio de mayor y mejor uso&gt; </vt:lpstr>
      <vt:lpstr>Presentación de PowerPoint</vt:lpstr>
      <vt:lpstr>Presentación de PowerPoint</vt:lpstr>
      <vt:lpstr>Resumen Ejecutivo</vt:lpstr>
      <vt:lpstr>Presentación de PowerPoint</vt:lpstr>
      <vt:lpstr>Presentación de PowerPoint</vt:lpstr>
      <vt:lpstr>Presentación de PowerPoint</vt:lpstr>
      <vt:lpstr>Análisis de Entorno</vt:lpstr>
      <vt:lpstr>MÉXICO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JALISCO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 y recomendaciones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Yessica Solórzano</dc:creator>
  <cp:lastModifiedBy>Helena Avilez</cp:lastModifiedBy>
  <cp:revision>1</cp:revision>
  <dcterms:created xsi:type="dcterms:W3CDTF">2024-02-20T05:28:19Z</dcterms:created>
  <dcterms:modified xsi:type="dcterms:W3CDTF">2026-03-09T01:52:40Z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2024-01-04T00:00:00Z</vt:filetime>
  </property>
  <property fmtid="{D5CDD505-2E9C-101B-9397-08002B2CF9AE}" pid="3" name="Creator">
    <vt:lpwstr>Keynote</vt:lpwstr>
  </property>
  <property fmtid="{D5CDD505-2E9C-101B-9397-08002B2CF9AE}" pid="4" name="LastSaved">
    <vt:filetime>2024-02-16T00:00:00Z</vt:filetime>
  </property>
  <property fmtid="{D5CDD505-2E9C-101B-9397-08002B2CF9AE}" pid="5" name="Producer">
    <vt:lpwstr>macOS Versión 13.6.1 (Fase 22G313) Quartz PDFContext</vt:lpwstr>
  </property>
  <property fmtid="{D5CDD505-2E9C-101B-9397-08002B2CF9AE}" pid="6" name="ContentTypeId">
    <vt:lpwstr>0x0101006A067A457CB13343B8C57377F6516967</vt:lpwstr>
  </property>
  <property fmtid="{D5CDD505-2E9C-101B-9397-08002B2CF9AE}" pid="7" name="MediaServiceImageTags">
    <vt:lpwstr/>
  </property>
  <property fmtid="{D5CDD505-2E9C-101B-9397-08002B2CF9AE}" pid="8" name="xd_ProgID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xd_Signature">
    <vt:bool>false</vt:bool>
  </property>
  <property fmtid="{D5CDD505-2E9C-101B-9397-08002B2CF9AE}" pid="14" name="Order">
    <vt:r8>4100</vt:r8>
  </property>
</Properties>
</file>